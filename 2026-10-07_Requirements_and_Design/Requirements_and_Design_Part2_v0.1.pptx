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2 opener" id="{50996d3c-2746-c663-3ba1-3d3fc3af05b0}">
          <p14:sldIdLst>
            <p14:sldId id="256"/>
          </p14:sldIdLst>
        </p14:section>
        <p14:section name="Requirements" id="{f549ba21-2d83-c1ed-659d-181b0367b36a}">
          <p14:sldIdLst>
            <p14:sldId id="257"/>
            <p14:sldId id="258"/>
            <p14:sldId id="259"/>
          </p14:sldIdLst>
        </p14:section>
        <p14:section name="Architecture" id="{70b3fc4a-fc8d-7e5a-0b75-baeb7e1ae890}">
          <p14:sldIdLst>
            <p14:sldId id="260"/>
            <p14:sldId id="261"/>
            <p14:sldId id="262"/>
            <p14:sldId id="263"/>
            <p14:sldId id="264"/>
            <p14:sldId id="265"/>
          </p14:sldIdLst>
        </p14:section>
        <p14:section name="Closing" id="{629e94b7-ade7-8e4e-5516-12647204cb69}">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Estimated effort per sprint (points)</a:t>
            </a:r>
          </a:p>
        </c:rich>
      </c:tx>
      <c:layout/>
      <c:overlay val="0"/>
    </c:title>
    <c:autoTitleDeleted val="0"/>
    <c:plotArea>
      <c:layout/>
      <c:barChart>
        <c:barDir val="col"/>
        <c:grouping val="clustered"/>
        <c:varyColors val="0"/>
        <c:ser>
          <c:idx val="0"/>
          <c:order val="0"/>
          <c:tx>
            <c:strRef>
              <c:f>Sheet1!$B$1</c:f>
              <c:strCache>
                <c:ptCount val="1"/>
                <c:pt idx="0">
                  <c:v>Estimated effort</c:v>
                </c:pt>
              </c:strCache>
            </c:strRef>
          </c:tx>
          <c:spPr>
            <a:solidFill>
              <a:srgbClr val="1F8A5B"/>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Sprint 3</c:v>
                  </c:pt>
                  <c:pt idx="1">
                    <c:v>Sprint 4</c:v>
                  </c:pt>
                  <c:pt idx="2">
                    <c:v>Sprint 5</c:v>
                  </c:pt>
                  <c:pt idx="3">
                    <c:v>Sprint 6</c:v>
                  </c:pt>
                  <c:pt idx="4">
                    <c:v>Sprint 7</c:v>
                  </c:pt>
                </c:lvl>
              </c:multiLvlStrCache>
            </c:multiLvlStrRef>
          </c:cat>
          <c:val>
            <c:numRef>
              <c:f>Sheet1!$B$2:$B$6</c:f>
              <c:numCache>
                <c:formatCode>General</c:formatCode>
                <c:ptCount val="5"/>
                <c:pt idx="0">
                  <c:v>29</c:v>
                </c:pt>
                <c:pt idx="1">
                  <c:v>29</c:v>
                </c:pt>
                <c:pt idx="2">
                  <c:v>19</c:v>
                </c:pt>
                <c:pt idx="3">
                  <c:v>29</c:v>
                </c:pt>
                <c:pt idx="4">
                  <c:v>25</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Thank you, Javier. I'll take the second half: the non-functional requirements, our backlog and mockups, and then the architecture: how the system is decomposed, the main flows, the decisions behind it, and the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Besides what the system does, we have twenty-one non-functional requirements. Each one has a measurable acceptance test. They fall into four groups.
Performance: a state change in the database must reach the map within twenty seconds, and with fifty concurrent users, ninety-five percent of history queries must answer in under two seconds.
Security: Colbits' telemetry and alarm tables are read-only for us. We prove it with a test that tries to write and expects a permission error. Passwords are stored as Argon2 or bcrypt hashes, five failed logins lock the account for fifteen minutes, and fifteen idle minutes end the session.
Flexibility: every business threshold, like the inactivity times or the five-minute grouping window, lives in configuration, so changing it needs no code.
Testability: API and interface suites that run on generated data, including an explicit test that no user can see data outside their scope. They run in CI on every pull request, with at least eighty percent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is the initial state of the product backlog: twenty-nine user stories, each traced to its requirements, and all still To Do because coding starts in Sprint 3.
We ordered them by priority and spread them over Sprints 3 to 7.
Priority 5 is the foundation: the data generator, login, scope, the map and the node colors, in Sprints 3 and 4.
Priority 4 adds filters, faults and alarms, user management, history and export.
At the bottom are the extras, including the Spanish chat, which is optional and the first thing we would drop.
The chart shows the estimated effort per sprint, around twenty-five to thirty points each, with Sprint 5 a bit lighter.
Our Sprint 3 goal is concrete: a user logs in and sees the nodes in their scope on the map, colored by fuse state, using generated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These are our first mockups in Figma. We based them on Colbits' own reference screens and already reviewed them with the client. Their feedback is tracked as tasks in Jira.
First, live monitoring: the map with clustered nodes colored by state, and next to it the list of active faults, ordered by severity.
Second, historical analysis: date presets, zone and circuit filters, the indicators, and the export buttons.
Third, the node detail, which shows each device's state, and the assistant panel, which answers only from predefined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Now the architecture. This is the inside of our backend.
A user, either the administrator or a consultation user, works only in the web frontend, and every action becomes a REST request to one of these six features: export, history, faults and alarms, network state, user administration, and the optional assistant.
Each feature relies on three shared parts: one checks who is calling, one limits what that user may see, and one reaches the data.
Features also reuse each other. History uses the same fault rule as the live alarms, so the numbers are identical on every screen.
The data comes from two places: Colbits' existing database, which we only read, shown in gray, and our own data, like users, their scope and device history.
For development and demos, our generator fills a separate database with the same structure, so we never touch Colbits'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first sequence is the core flow: secure live monitoring.
The operator logs in, and the API checks the password hash and returns a token carrying the role and the scope.
When the map opens, every request carries that token. The API validates it and applies the scope filter on the server before any query runs.
Then it reads the latest Falcon and SMAC telemetry in read-only mode, computes the color of each node for the fuse and transformer layers, and returns only the nodes this user is allowed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second sequence shows how raw telemetry becomes alarms and reports.
In the background, a fault engine polls Colbits' database every few seconds. It groups fuse openings on the same fuse set within the five-minute window into single-, two- or three-phase faults, and flags devices that stopped reporting.
The results are written only to our own tables, never to Colbits' database.
When an operator asks for thirty days of history, the API checks the scope again, combines the time-series data with our fault history, and the frontend draws the charts.
For an export, the server computes the indicators itself and adds a traceability header, so two exports with the same filters always give the same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These are our most important design decisions.
One: a modular monolith, a single API with feature modules, instead of microservices. With six part-time developers and fourteen weeks, one deployable and one test suite is the realistic choice.
Two: Colbits' data stays read-only, and our state lives in a separate schema, enforced by a database role that can only SELECT.
Three: scope is enforced in one place, the data-access layer on the server, so nothing can leak, not even through a count or a total.
Four: one fault rule, run by a background engine, so every screen shows the same numbers and queries stay fast.
Five: the live map uses short polling instead of WebSockets. It meets the twenty-second target and makes the last-refresh warning easy.
And six: the seeded generator, Docker and CI from day one, so all development and testing works without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Some technical concerns remain open.
Performance: we cannot add indexes to Colbits' database, so we will pre-aggregate in our own schema and run the load test early.
Real-data quirks: SMAC readings are split across three tables and must be joined with a time tolerance, and old repetition fuse IDs exist in history that the generator does not produce.
The twenty-second end-to-end latency must be measured, not assumed.
And a few points are still to confirm with Colbits, such as the amber versus yellow color in the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Finally, the technologies, mapped to the components you saw in the diagram.
The web frontend is React with TypeScript, organized with Atomic Design. The map uses Leaflet with marker clustering, the charts use Recharts, and the live refresh is a ten-second polling query.
The backend is Python with FastAPI. It generates the API documentation automatically, which is one of our deliverables. Authentication uses JWT and Argon2. Data access uses SQLAlchemy with a read-only database role. The fault engine is a scheduled background job, and exports use openpyxl and WeasyPrint.
On the data side: PostgreSQL with TimescaleDB, the same engine as Colbits, plus our own schema with versioned migrations. The generator is a Python command-line tool with a fixed seed. Tests use pytest and Playwright, run in GitHub Actions, and everything is packaged with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 That's our requirements and design. Thank you.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tmp/claude-0/-home-user-COLBITS-Project/4a2a7ff8-e34c-542f-b78d-7d69144981df/scratchpad/tpl/success_logo.png">    </p:cNvPr>
          <p:cNvPicPr>
            <a:picLocks noChangeAspect="1"/>
          </p:cNvPicPr>
          <p:nvPr/>
        </p:nvPicPr>
        <p:blipFill>
          <a:blip r:embed="rId1"/>
          <a:stretch>
            <a:fillRect/>
          </a:stretch>
        </p:blipFill>
        <p:spPr>
          <a:xfrm>
            <a:off x="10268712" y="182880"/>
            <a:ext cx="1591056" cy="576072"/>
          </a:xfrm>
          <a:prstGeom prst="rect">
            <a:avLst/>
          </a:prstGeom>
        </p:spPr>
      </p:pic>
      <p:sp>
        <p:nvSpPr>
          <p:cNvPr id="3" name="Text 0"/>
          <p:cNvSpPr/>
          <p:nvPr>
            <p:ph idx="101" type="body" hasCustomPrompt="1"/>
          </p:nvPr>
        </p:nvSpPr>
        <p:spPr>
          <a:xfrm>
            <a:off x="320040" y="201168"/>
            <a:ext cx="5486400" cy="320040"/>
          </a:xfrm>
          <a:prstGeom prst="rect">
            <a:avLst/>
          </a:prstGeom>
          <a:noFill/>
          <a:ln/>
        </p:spPr>
        <p:txBody>
          <a:bodyPr wrap="square" rtlCol="0"/>
          <a:lstStyle>
            <a:lvl1pPr indent="0" marL="0">
              <a:buNone/>
              <a:defRPr lang="en-US" sz="1200" dirty="0">
                <a:solidFill>
                  <a:schemeClr val="tx1"/>
                </a:solidFill>
              </a:defRPr>
            </a:lvl1pPr>
          </a:lstStyle>
          <a:p>
            <a:pPr indent="0" marL="0">
              <a:buNone/>
            </a:pPr>
            <a:endParaRPr lang="en-US" sz="1200" dirty="0"/>
          </a:p>
        </p:txBody>
      </p:sp>
      <p:sp>
        <p:nvSpPr>
          <p:cNvPr id="4" name="Text 0"/>
          <p:cNvSpPr/>
          <p:nvPr>
            <p:ph idx="102" type="title" hasCustomPrompt="1"/>
          </p:nvPr>
        </p:nvSpPr>
        <p:spPr>
          <a:xfrm>
            <a:off x="914400" y="621792"/>
            <a:ext cx="92354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pic>
        <p:nvPicPr>
          <p:cNvPr id="2" name="Image 0" descr="/tmp/claude-0/-home-user-COLBITS-Project/4a2a7ff8-e34c-542f-b78d-7d69144981df/scratchpad/tpl/success_logo.png">    </p:cNvPr>
          <p:cNvPicPr>
            <a:picLocks noChangeAspect="1"/>
          </p:cNvPicPr>
          <p:nvPr/>
        </p:nvPicPr>
        <p:blipFill>
          <a:blip r:embed="rId1"/>
          <a:stretch>
            <a:fillRect/>
          </a:stretch>
        </p:blipFill>
        <p:spPr>
          <a:xfrm>
            <a:off x="10268712" y="182880"/>
            <a:ext cx="1591056" cy="576072"/>
          </a:xfrm>
          <a:prstGeom prst="rect">
            <a:avLst/>
          </a:prstGeom>
        </p:spPr>
      </p:pic>
      <p:sp>
        <p:nvSpPr>
          <p:cNvPr id="3" name="Text 0"/>
          <p:cNvSpPr/>
          <p:nvPr>
            <p:ph idx="101" type="title" hasCustomPrompt="1"/>
          </p:nvPr>
        </p:nvSpPr>
        <p:spPr>
          <a:xfrm>
            <a:off x="914400" y="1828800"/>
            <a:ext cx="10360152" cy="1737360"/>
          </a:xfrm>
          <a:prstGeom prst="rect">
            <a:avLst/>
          </a:prstGeom>
          <a:noFill/>
          <a:ln/>
        </p:spPr>
        <p:txBody>
          <a:bodyPr wrap="square" rtlCol="0"/>
          <a:lstStyle>
            <a:lvl1pPr algn="ctr" indent="0" marL="0">
              <a:buNone/>
              <a:defRPr lang="en-US" sz="4800" b="1" dirty="0">
                <a:solidFill>
                  <a:schemeClr val="tx1"/>
                </a:solidFill>
              </a:defRPr>
            </a:lvl1pPr>
          </a:lstStyle>
          <a:p>
            <a:pPr algn="ctr" indent="0" marL="0">
              <a:buNone/>
            </a:pPr>
            <a:endParaRPr lang="en-US" sz="4800" dirty="0"/>
          </a:p>
        </p:txBody>
      </p:sp>
      <p:sp>
        <p:nvSpPr>
          <p:cNvPr id="4" name="Text 0"/>
          <p:cNvSpPr/>
          <p:nvPr>
            <p:ph idx="102" type="body" hasCustomPrompt="1"/>
          </p:nvPr>
        </p:nvSpPr>
        <p:spPr>
          <a:xfrm>
            <a:off x="914400" y="3703320"/>
            <a:ext cx="10360152" cy="548640"/>
          </a:xfrm>
          <a:prstGeom prst="rect">
            <a:avLst/>
          </a:prstGeom>
          <a:noFill/>
          <a:ln/>
        </p:spPr>
        <p:txBody>
          <a:bodyPr wrap="square" rtlCol="0"/>
          <a:lstStyle>
            <a:lvl1pPr algn="ctr" indent="0" marL="0">
              <a:buNone/>
              <a:defRPr lang="en-US" sz="2200" dirty="0">
                <a:solidFill>
                  <a:schemeClr val="tx1"/>
                </a:solidFill>
              </a:defRPr>
            </a:lvl1pPr>
          </a:lstStyle>
          <a:p>
            <a:pPr algn="ctr" indent="0" marL="0">
              <a:buNone/>
            </a:pPr>
            <a:endParaRPr lang="en-US" sz="2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914400" y="1828800"/>
            <a:ext cx="10360152" cy="1737360"/>
          </a:xfrm>
          <a:prstGeom prst="rect">
            <a:avLst/>
          </a:prstGeom>
          <a:noFill/>
          <a:ln/>
        </p:spPr>
        <p:txBody>
          <a:bodyPr wrap="square" lIns="0" tIns="0" rIns="0" bIns="0" rtlCol="0" anchor="ctr"/>
          <a:lstStyle/>
          <a:p>
            <a:pPr algn="ctr" indent="0" marL="0">
              <a:buNone/>
            </a:pPr>
            <a:r>
              <a:rPr lang="en-US" sz="4800" b="1" dirty="0">
                <a:solidFill>
                  <a:schemeClr val="tx1"/>
                </a:solidFill>
              </a:rPr>
              <a:t>REQUIREMENTS &amp; ARCHITECTURE</a:t>
            </a:r>
            <a:endParaRPr lang="en-US" sz="4800" dirty="0"/>
          </a:p>
        </p:txBody>
      </p:sp>
      <p:sp>
        <p:nvSpPr>
          <p:cNvPr id="3" name="Text 0"/>
          <p:cNvSpPr/>
          <p:nvPr>
            <p:ph idx="102" type="body" hasCustomPrompt="1"/>
          </p:nvPr>
        </p:nvSpPr>
        <p:spPr>
          <a:xfrm>
            <a:off x="914400" y="3703320"/>
            <a:ext cx="10360152" cy="548640"/>
          </a:xfrm>
          <a:prstGeom prst="rect">
            <a:avLst/>
          </a:prstGeom>
          <a:noFill/>
          <a:ln/>
        </p:spPr>
        <p:txBody>
          <a:bodyPr wrap="square" lIns="0" tIns="0" rIns="0" bIns="0" rtlCol="0" anchor="t"/>
          <a:lstStyle/>
          <a:p>
            <a:pPr algn="ctr" indent="0" marL="0">
              <a:buNone/>
            </a:pPr>
            <a:r>
              <a:rPr lang="en-US" sz="2200" dirty="0">
                <a:solidFill>
                  <a:schemeClr val="tx1"/>
                </a:solidFill>
              </a:rPr>
              <a:t>Part 2 · Sections 8–14</a:t>
            </a:r>
            <a:endParaRPr lang="en-US" sz="2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REQUIREMENTS</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NON-FUNCTIONAL REQUIREMENTS</a:t>
            </a:r>
            <a:endParaRPr lang="en-US" sz="3600" dirty="0"/>
          </a:p>
        </p:txBody>
      </p:sp>
      <p:sp>
        <p:nvSpPr>
          <p:cNvPr id="4" name="Text 2"/>
          <p:cNvSpPr txBox="1"/>
          <p:nvPr/>
        </p:nvSpPr>
        <p:spPr>
          <a:xfrm>
            <a:off x="914400" y="1481328"/>
            <a:ext cx="10332720" cy="365760"/>
          </a:xfrm>
          <a:prstGeom prst="rect">
            <a:avLst/>
          </a:prstGeom>
          <a:noFill/>
          <a:ln/>
        </p:spPr>
        <p:txBody>
          <a:bodyPr wrap="square" lIns="0" tIns="0" rIns="0" bIns="0" rtlCol="0" anchor="ctr"/>
          <a:lstStyle/>
          <a:p>
            <a:pPr indent="0" marL="0">
              <a:buNone/>
            </a:pPr>
            <a:r>
              <a:rPr lang="en-US" sz="1600" dirty="0">
                <a:solidFill>
                  <a:schemeClr val="tx1"/>
                </a:solidFill>
              </a:rPr>
              <a:t>21 measurable requirements (NF-01 to NF-21), each with an acceptance test</a:t>
            </a:r>
            <a:endParaRPr lang="en-US" sz="1600" dirty="0"/>
          </a:p>
        </p:txBody>
      </p:sp>
      <p:sp>
        <p:nvSpPr>
          <p:cNvPr id="5" name="nfr-card-0"/>
          <p:cNvSpPr/>
          <p:nvPr/>
        </p:nvSpPr>
        <p:spPr>
          <a:xfrm>
            <a:off x="914400" y="2057400"/>
            <a:ext cx="2377440" cy="4160520"/>
          </a:xfrm>
          <a:prstGeom prst="roundRect">
            <a:avLst>
              <a:gd name="adj" fmla="val 4615"/>
            </a:avLst>
          </a:prstGeom>
          <a:solidFill>
            <a:schemeClr val="bg2"/>
          </a:solidFill>
          <a:ln/>
        </p:spPr>
      </p:sp>
      <p:sp>
        <p:nvSpPr>
          <p:cNvPr id="6" name="Text 4"/>
          <p:cNvSpPr txBox="1"/>
          <p:nvPr/>
        </p:nvSpPr>
        <p:spPr>
          <a:xfrm>
            <a:off x="1143000" y="2240280"/>
            <a:ext cx="1920240" cy="777240"/>
          </a:xfrm>
          <a:prstGeom prst="rect">
            <a:avLst/>
          </a:prstGeom>
          <a:noFill/>
          <a:ln/>
        </p:spPr>
        <p:txBody>
          <a:bodyPr wrap="square" lIns="0" tIns="0" rIns="0" bIns="0" rtlCol="0" anchor="ctr"/>
          <a:lstStyle/>
          <a:p>
            <a:pPr indent="0" marL="0">
              <a:buNone/>
            </a:pPr>
            <a:r>
              <a:rPr lang="en-US" sz="4000" b="1" dirty="0">
                <a:solidFill>
                  <a:schemeClr val="accent1"/>
                </a:solidFill>
                <a:latin typeface="Montserrat" pitchFamily="34" charset="0"/>
                <a:ea typeface="Montserrat" pitchFamily="34" charset="-122"/>
                <a:cs typeface="Montserrat" pitchFamily="34" charset="-120"/>
              </a:rPr>
              <a:t>20 s</a:t>
            </a:r>
            <a:endParaRPr lang="en-US" sz="4000" dirty="0"/>
          </a:p>
        </p:txBody>
      </p:sp>
      <p:sp>
        <p:nvSpPr>
          <p:cNvPr id="7" name="Text 5"/>
          <p:cNvSpPr txBox="1"/>
          <p:nvPr/>
        </p:nvSpPr>
        <p:spPr>
          <a:xfrm>
            <a:off x="1143000" y="3017520"/>
            <a:ext cx="1920240" cy="365760"/>
          </a:xfrm>
          <a:prstGeom prst="rect">
            <a:avLst/>
          </a:prstGeom>
          <a:noFill/>
          <a:ln/>
        </p:spPr>
        <p:txBody>
          <a:bodyPr wrap="square" lIns="0" tIns="0" rIns="0" bIns="0" rtlCol="0" anchor="ctr"/>
          <a:lstStyle/>
          <a:p>
            <a:pPr indent="0" marL="0">
              <a:buNone/>
            </a:pPr>
            <a:r>
              <a:rPr lang="en-US" sz="1800" b="1" dirty="0">
                <a:solidFill>
                  <a:schemeClr val="tx1"/>
                </a:solidFill>
              </a:rPr>
              <a:t>Performance</a:t>
            </a:r>
            <a:endParaRPr lang="en-US" sz="1800" dirty="0"/>
          </a:p>
        </p:txBody>
      </p:sp>
      <p:sp>
        <p:nvSpPr>
          <p:cNvPr id="8" name="Text 6"/>
          <p:cNvSpPr txBox="1"/>
          <p:nvPr/>
        </p:nvSpPr>
        <p:spPr>
          <a:xfrm>
            <a:off x="1143000" y="3364992"/>
            <a:ext cx="1920240" cy="274320"/>
          </a:xfrm>
          <a:prstGeom prst="rect">
            <a:avLst/>
          </a:prstGeom>
          <a:noFill/>
          <a:ln/>
        </p:spPr>
        <p:txBody>
          <a:bodyPr wrap="square" lIns="0" tIns="0" rIns="0" bIns="0" rtlCol="0" anchor="ctr"/>
          <a:lstStyle/>
          <a:p>
            <a:pPr indent="0" marL="0">
              <a:buNone/>
            </a:pPr>
            <a:r>
              <a:rPr lang="en-US" sz="1100" dirty="0">
                <a:solidFill>
                  <a:schemeClr val="accent5"/>
                </a:solidFill>
              </a:rPr>
              <a:t>NF-01 – NF-02</a:t>
            </a:r>
            <a:endParaRPr lang="en-US" sz="1100" dirty="0"/>
          </a:p>
        </p:txBody>
      </p:sp>
      <p:sp>
        <p:nvSpPr>
          <p:cNvPr id="9" name="Text 7"/>
          <p:cNvSpPr txBox="1"/>
          <p:nvPr/>
        </p:nvSpPr>
        <p:spPr>
          <a:xfrm>
            <a:off x="1097280" y="3749040"/>
            <a:ext cx="2011680" cy="233172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Node state change on the map in ≤ 20 s</a:t>
            </a:r>
            <a:endParaRPr lang="en-US" sz="1250" dirty="0"/>
          </a:p>
          <a:p>
            <a:pPr marL="152400" indent="-152400">
              <a:spcAft>
                <a:spcPts val="600"/>
              </a:spcAft>
              <a:buSzPct val="100000"/>
              <a:buChar char="•"/>
            </a:pPr>
            <a:r>
              <a:rPr lang="en-US" sz="1250" dirty="0">
                <a:solidFill>
                  <a:schemeClr val="tx1"/>
                </a:solidFill>
              </a:rPr>
              <a:t>95 % of history queries ≤ 2 s with 50 concurrent users</a:t>
            </a:r>
            <a:endParaRPr lang="en-US" sz="1250" dirty="0"/>
          </a:p>
        </p:txBody>
      </p:sp>
      <p:sp>
        <p:nvSpPr>
          <p:cNvPr id="10" name="nfr-card-1"/>
          <p:cNvSpPr/>
          <p:nvPr/>
        </p:nvSpPr>
        <p:spPr>
          <a:xfrm>
            <a:off x="3566160" y="2057400"/>
            <a:ext cx="2377440" cy="4160520"/>
          </a:xfrm>
          <a:prstGeom prst="roundRect">
            <a:avLst>
              <a:gd name="adj" fmla="val 4615"/>
            </a:avLst>
          </a:prstGeom>
          <a:solidFill>
            <a:schemeClr val="bg2"/>
          </a:solidFill>
          <a:ln/>
        </p:spPr>
      </p:sp>
      <p:sp>
        <p:nvSpPr>
          <p:cNvPr id="11" name="Text 9"/>
          <p:cNvSpPr txBox="1"/>
          <p:nvPr/>
        </p:nvSpPr>
        <p:spPr>
          <a:xfrm>
            <a:off x="3794760" y="2240280"/>
            <a:ext cx="1920240" cy="777240"/>
          </a:xfrm>
          <a:prstGeom prst="rect">
            <a:avLst/>
          </a:prstGeom>
          <a:noFill/>
          <a:ln/>
        </p:spPr>
        <p:txBody>
          <a:bodyPr wrap="square" lIns="0" tIns="0" rIns="0" bIns="0" rtlCol="0" anchor="ctr"/>
          <a:lstStyle/>
          <a:p>
            <a:pPr indent="0" marL="0">
              <a:buNone/>
            </a:pPr>
            <a:r>
              <a:rPr lang="en-US" sz="4000" b="1" dirty="0">
                <a:solidFill>
                  <a:schemeClr val="accent1"/>
                </a:solidFill>
                <a:latin typeface="Montserrat" pitchFamily="34" charset="0"/>
                <a:ea typeface="Montserrat" pitchFamily="34" charset="-122"/>
                <a:cs typeface="Montserrat" pitchFamily="34" charset="-120"/>
              </a:rPr>
              <a:t>R/O</a:t>
            </a:r>
            <a:endParaRPr lang="en-US" sz="4000" dirty="0"/>
          </a:p>
        </p:txBody>
      </p:sp>
      <p:sp>
        <p:nvSpPr>
          <p:cNvPr id="12" name="Text 10"/>
          <p:cNvSpPr txBox="1"/>
          <p:nvPr/>
        </p:nvSpPr>
        <p:spPr>
          <a:xfrm>
            <a:off x="3794760" y="3017520"/>
            <a:ext cx="1920240" cy="365760"/>
          </a:xfrm>
          <a:prstGeom prst="rect">
            <a:avLst/>
          </a:prstGeom>
          <a:noFill/>
          <a:ln/>
        </p:spPr>
        <p:txBody>
          <a:bodyPr wrap="square" lIns="0" tIns="0" rIns="0" bIns="0" rtlCol="0" anchor="ctr"/>
          <a:lstStyle/>
          <a:p>
            <a:pPr indent="0" marL="0">
              <a:buNone/>
            </a:pPr>
            <a:r>
              <a:rPr lang="en-US" sz="1800" b="1" dirty="0">
                <a:solidFill>
                  <a:schemeClr val="tx1"/>
                </a:solidFill>
              </a:rPr>
              <a:t>Security</a:t>
            </a:r>
            <a:endParaRPr lang="en-US" sz="1800" dirty="0"/>
          </a:p>
        </p:txBody>
      </p:sp>
      <p:sp>
        <p:nvSpPr>
          <p:cNvPr id="13" name="Text 11"/>
          <p:cNvSpPr txBox="1"/>
          <p:nvPr/>
        </p:nvSpPr>
        <p:spPr>
          <a:xfrm>
            <a:off x="3794760" y="3364992"/>
            <a:ext cx="1920240" cy="274320"/>
          </a:xfrm>
          <a:prstGeom prst="rect">
            <a:avLst/>
          </a:prstGeom>
          <a:noFill/>
          <a:ln/>
        </p:spPr>
        <p:txBody>
          <a:bodyPr wrap="square" lIns="0" tIns="0" rIns="0" bIns="0" rtlCol="0" anchor="ctr"/>
          <a:lstStyle/>
          <a:p>
            <a:pPr indent="0" marL="0">
              <a:buNone/>
            </a:pPr>
            <a:r>
              <a:rPr lang="en-US" sz="1100" dirty="0">
                <a:solidFill>
                  <a:schemeClr val="accent5"/>
                </a:solidFill>
              </a:rPr>
              <a:t>NF-03 – NF-06</a:t>
            </a:r>
            <a:endParaRPr lang="en-US" sz="1100" dirty="0"/>
          </a:p>
        </p:txBody>
      </p:sp>
      <p:sp>
        <p:nvSpPr>
          <p:cNvPr id="14" name="Text 12"/>
          <p:cNvSpPr txBox="1"/>
          <p:nvPr/>
        </p:nvSpPr>
        <p:spPr>
          <a:xfrm>
            <a:off x="3749040" y="3749040"/>
            <a:ext cx="2011680" cy="233172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Colbits telemetry and alarm tables are read-only</a:t>
            </a:r>
            <a:endParaRPr lang="en-US" sz="1250" dirty="0"/>
          </a:p>
          <a:p>
            <a:pPr marL="152400" indent="-152400">
              <a:spcAft>
                <a:spcPts val="600"/>
              </a:spcAft>
              <a:buSzPct val="100000"/>
              <a:buChar char="•"/>
            </a:pPr>
            <a:r>
              <a:rPr lang="en-US" sz="1250" dirty="0">
                <a:solidFill>
                  <a:schemeClr val="tx1"/>
                </a:solidFill>
              </a:rPr>
              <a:t>Salted bcrypt / Argon2 hashes</a:t>
            </a:r>
            <a:endParaRPr lang="en-US" sz="1250" dirty="0"/>
          </a:p>
          <a:p>
            <a:pPr marL="152400" indent="-152400">
              <a:spcAft>
                <a:spcPts val="600"/>
              </a:spcAft>
              <a:buSzPct val="100000"/>
              <a:buChar char="•"/>
            </a:pPr>
            <a:r>
              <a:rPr lang="en-US" sz="1250" dirty="0">
                <a:solidFill>
                  <a:schemeClr val="tx1"/>
                </a:solidFill>
              </a:rPr>
              <a:t>Lock 15 min after 5 failed logins</a:t>
            </a:r>
            <a:endParaRPr lang="en-US" sz="1250" dirty="0"/>
          </a:p>
          <a:p>
            <a:pPr marL="152400" indent="-152400">
              <a:spcAft>
                <a:spcPts val="600"/>
              </a:spcAft>
              <a:buSzPct val="100000"/>
              <a:buChar char="•"/>
            </a:pPr>
            <a:r>
              <a:rPr lang="en-US" sz="1250" dirty="0">
                <a:solidFill>
                  <a:schemeClr val="tx1"/>
                </a:solidFill>
              </a:rPr>
              <a:t>Token expires after 15 idle min</a:t>
            </a:r>
            <a:endParaRPr lang="en-US" sz="1250" dirty="0"/>
          </a:p>
        </p:txBody>
      </p:sp>
      <p:sp>
        <p:nvSpPr>
          <p:cNvPr id="15" name="nfr-card-2"/>
          <p:cNvSpPr/>
          <p:nvPr/>
        </p:nvSpPr>
        <p:spPr>
          <a:xfrm>
            <a:off x="6217920" y="2057400"/>
            <a:ext cx="2377440" cy="4160520"/>
          </a:xfrm>
          <a:prstGeom prst="roundRect">
            <a:avLst>
              <a:gd name="adj" fmla="val 4615"/>
            </a:avLst>
          </a:prstGeom>
          <a:solidFill>
            <a:schemeClr val="bg2"/>
          </a:solidFill>
          <a:ln/>
        </p:spPr>
      </p:sp>
      <p:sp>
        <p:nvSpPr>
          <p:cNvPr id="16" name="Text 14"/>
          <p:cNvSpPr txBox="1"/>
          <p:nvPr/>
        </p:nvSpPr>
        <p:spPr>
          <a:xfrm>
            <a:off x="6446520" y="2240280"/>
            <a:ext cx="1920240" cy="777240"/>
          </a:xfrm>
          <a:prstGeom prst="rect">
            <a:avLst/>
          </a:prstGeom>
          <a:noFill/>
          <a:ln/>
        </p:spPr>
        <p:txBody>
          <a:bodyPr wrap="square" lIns="0" tIns="0" rIns="0" bIns="0" rtlCol="0" anchor="ctr"/>
          <a:lstStyle/>
          <a:p>
            <a:pPr indent="0" marL="0">
              <a:buNone/>
            </a:pPr>
            <a:r>
              <a:rPr lang="en-US" sz="4000" b="1" dirty="0">
                <a:solidFill>
                  <a:schemeClr val="accent1"/>
                </a:solidFill>
                <a:latin typeface="Montserrat" pitchFamily="34" charset="0"/>
                <a:ea typeface="Montserrat" pitchFamily="34" charset="-122"/>
                <a:cs typeface="Montserrat" pitchFamily="34" charset="-120"/>
              </a:rPr>
              <a:t>6</a:t>
            </a:r>
            <a:endParaRPr lang="en-US" sz="4000" dirty="0"/>
          </a:p>
        </p:txBody>
      </p:sp>
      <p:sp>
        <p:nvSpPr>
          <p:cNvPr id="17" name="Text 15"/>
          <p:cNvSpPr txBox="1"/>
          <p:nvPr/>
        </p:nvSpPr>
        <p:spPr>
          <a:xfrm>
            <a:off x="6446520" y="3017520"/>
            <a:ext cx="1920240" cy="365760"/>
          </a:xfrm>
          <a:prstGeom prst="rect">
            <a:avLst/>
          </a:prstGeom>
          <a:noFill/>
          <a:ln/>
        </p:spPr>
        <p:txBody>
          <a:bodyPr wrap="square" lIns="0" tIns="0" rIns="0" bIns="0" rtlCol="0" anchor="ctr"/>
          <a:lstStyle/>
          <a:p>
            <a:pPr indent="0" marL="0">
              <a:buNone/>
            </a:pPr>
            <a:r>
              <a:rPr lang="en-US" sz="1800" b="1" dirty="0">
                <a:solidFill>
                  <a:schemeClr val="tx1"/>
                </a:solidFill>
              </a:rPr>
              <a:t>Flexibility</a:t>
            </a:r>
            <a:endParaRPr lang="en-US" sz="1800" dirty="0"/>
          </a:p>
        </p:txBody>
      </p:sp>
      <p:sp>
        <p:nvSpPr>
          <p:cNvPr id="18" name="Text 16"/>
          <p:cNvSpPr txBox="1"/>
          <p:nvPr/>
        </p:nvSpPr>
        <p:spPr>
          <a:xfrm>
            <a:off x="6446520" y="3364992"/>
            <a:ext cx="1920240" cy="274320"/>
          </a:xfrm>
          <a:prstGeom prst="rect">
            <a:avLst/>
          </a:prstGeom>
          <a:noFill/>
          <a:ln/>
        </p:spPr>
        <p:txBody>
          <a:bodyPr wrap="square" lIns="0" tIns="0" rIns="0" bIns="0" rtlCol="0" anchor="ctr"/>
          <a:lstStyle/>
          <a:p>
            <a:pPr indent="0" marL="0">
              <a:buNone/>
            </a:pPr>
            <a:r>
              <a:rPr lang="en-US" sz="1100" dirty="0">
                <a:solidFill>
                  <a:schemeClr val="accent5"/>
                </a:solidFill>
              </a:rPr>
              <a:t>NF-07 – NF-12</a:t>
            </a:r>
            <a:endParaRPr lang="en-US" sz="1100" dirty="0"/>
          </a:p>
        </p:txBody>
      </p:sp>
      <p:sp>
        <p:nvSpPr>
          <p:cNvPr id="19" name="Text 17"/>
          <p:cNvSpPr txBox="1"/>
          <p:nvPr/>
        </p:nvSpPr>
        <p:spPr>
          <a:xfrm>
            <a:off x="6400800" y="3749040"/>
            <a:ext cx="2011680" cy="233172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Configurable without code changes:</a:t>
            </a:r>
            <a:endParaRPr lang="en-US" sz="1250" dirty="0"/>
          </a:p>
          <a:p>
            <a:pPr marL="152400" indent="-152400">
              <a:spcAft>
                <a:spcPts val="600"/>
              </a:spcAft>
              <a:buSzPct val="100000"/>
              <a:buChar char="•"/>
            </a:pPr>
            <a:r>
              <a:rPr lang="en-US" sz="1250" dirty="0">
                <a:solidFill>
                  <a:schemeClr val="tx1"/>
                </a:solidFill>
              </a:rPr>
              <a:t>inactivity &amp; low-energy thresholds</a:t>
            </a:r>
            <a:endParaRPr lang="en-US" sz="1250" dirty="0"/>
          </a:p>
          <a:p>
            <a:pPr marL="152400" indent="-152400">
              <a:spcAft>
                <a:spcPts val="600"/>
              </a:spcAft>
              <a:buSzPct val="100000"/>
              <a:buChar char="•"/>
            </a:pPr>
            <a:r>
              <a:rPr lang="en-US" sz="1250" dirty="0">
                <a:solidFill>
                  <a:schemeClr val="tx1"/>
                </a:solidFill>
              </a:rPr>
              <a:t>5-min grouping window, min. duration</a:t>
            </a:r>
            <a:endParaRPr lang="en-US" sz="1250" dirty="0"/>
          </a:p>
          <a:p>
            <a:pPr marL="152400" indent="-152400">
              <a:spcAft>
                <a:spcPts val="600"/>
              </a:spcAft>
              <a:buSzPct val="100000"/>
              <a:buChar char="•"/>
            </a:pPr>
            <a:r>
              <a:rPr lang="en-US" sz="1250" dirty="0">
                <a:solidFill>
                  <a:schemeClr val="tx1"/>
                </a:solidFill>
              </a:rPr>
              <a:t>severity criterion, SMAC tolerance</a:t>
            </a:r>
            <a:endParaRPr lang="en-US" sz="1250" dirty="0"/>
          </a:p>
        </p:txBody>
      </p:sp>
      <p:sp>
        <p:nvSpPr>
          <p:cNvPr id="20" name="nfr-card-3"/>
          <p:cNvSpPr/>
          <p:nvPr/>
        </p:nvSpPr>
        <p:spPr>
          <a:xfrm>
            <a:off x="8869680" y="2057400"/>
            <a:ext cx="2377440" cy="4160520"/>
          </a:xfrm>
          <a:prstGeom prst="roundRect">
            <a:avLst>
              <a:gd name="adj" fmla="val 4615"/>
            </a:avLst>
          </a:prstGeom>
          <a:solidFill>
            <a:schemeClr val="bg2"/>
          </a:solidFill>
          <a:ln/>
        </p:spPr>
      </p:sp>
      <p:sp>
        <p:nvSpPr>
          <p:cNvPr id="21" name="Text 19"/>
          <p:cNvSpPr txBox="1"/>
          <p:nvPr/>
        </p:nvSpPr>
        <p:spPr>
          <a:xfrm>
            <a:off x="9098280" y="2240280"/>
            <a:ext cx="1920240" cy="777240"/>
          </a:xfrm>
          <a:prstGeom prst="rect">
            <a:avLst/>
          </a:prstGeom>
          <a:noFill/>
          <a:ln/>
        </p:spPr>
        <p:txBody>
          <a:bodyPr wrap="square" lIns="0" tIns="0" rIns="0" bIns="0" rtlCol="0" anchor="ctr"/>
          <a:lstStyle/>
          <a:p>
            <a:pPr indent="0" marL="0">
              <a:buNone/>
            </a:pPr>
            <a:r>
              <a:rPr lang="en-US" sz="4000" b="1" dirty="0">
                <a:solidFill>
                  <a:schemeClr val="accent1"/>
                </a:solidFill>
                <a:latin typeface="Montserrat" pitchFamily="34" charset="0"/>
                <a:ea typeface="Montserrat" pitchFamily="34" charset="-122"/>
                <a:cs typeface="Montserrat" pitchFamily="34" charset="-120"/>
              </a:rPr>
              <a:t>80 %</a:t>
            </a:r>
            <a:endParaRPr lang="en-US" sz="4000" dirty="0"/>
          </a:p>
        </p:txBody>
      </p:sp>
      <p:sp>
        <p:nvSpPr>
          <p:cNvPr id="22" name="Text 20"/>
          <p:cNvSpPr txBox="1"/>
          <p:nvPr/>
        </p:nvSpPr>
        <p:spPr>
          <a:xfrm>
            <a:off x="9098280" y="3017520"/>
            <a:ext cx="1920240" cy="365760"/>
          </a:xfrm>
          <a:prstGeom prst="rect">
            <a:avLst/>
          </a:prstGeom>
          <a:noFill/>
          <a:ln/>
        </p:spPr>
        <p:txBody>
          <a:bodyPr wrap="square" lIns="0" tIns="0" rIns="0" bIns="0" rtlCol="0" anchor="ctr"/>
          <a:lstStyle/>
          <a:p>
            <a:pPr indent="0" marL="0">
              <a:buNone/>
            </a:pPr>
            <a:r>
              <a:rPr lang="en-US" sz="1800" b="1" dirty="0">
                <a:solidFill>
                  <a:schemeClr val="tx1"/>
                </a:solidFill>
              </a:rPr>
              <a:t>Testability</a:t>
            </a:r>
            <a:endParaRPr lang="en-US" sz="1800" dirty="0"/>
          </a:p>
        </p:txBody>
      </p:sp>
      <p:sp>
        <p:nvSpPr>
          <p:cNvPr id="23" name="Text 21"/>
          <p:cNvSpPr txBox="1"/>
          <p:nvPr/>
        </p:nvSpPr>
        <p:spPr>
          <a:xfrm>
            <a:off x="9098280" y="3364992"/>
            <a:ext cx="1920240" cy="274320"/>
          </a:xfrm>
          <a:prstGeom prst="rect">
            <a:avLst/>
          </a:prstGeom>
          <a:noFill/>
          <a:ln/>
        </p:spPr>
        <p:txBody>
          <a:bodyPr wrap="square" lIns="0" tIns="0" rIns="0" bIns="0" rtlCol="0" anchor="ctr"/>
          <a:lstStyle/>
          <a:p>
            <a:pPr indent="0" marL="0">
              <a:buNone/>
            </a:pPr>
            <a:r>
              <a:rPr lang="en-US" sz="1100" dirty="0">
                <a:solidFill>
                  <a:schemeClr val="accent5"/>
                </a:solidFill>
              </a:rPr>
              <a:t>NF-13 – NF-21</a:t>
            </a:r>
            <a:endParaRPr lang="en-US" sz="1100" dirty="0"/>
          </a:p>
        </p:txBody>
      </p:sp>
      <p:sp>
        <p:nvSpPr>
          <p:cNvPr id="24" name="Text 22"/>
          <p:cNvSpPr txBox="1"/>
          <p:nvPr/>
        </p:nvSpPr>
        <p:spPr>
          <a:xfrm>
            <a:off x="9052560" y="3749040"/>
            <a:ext cx="2011680" cy="233172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API + UI suites on generated data</a:t>
            </a:r>
            <a:endParaRPr lang="en-US" sz="1250" dirty="0"/>
          </a:p>
          <a:p>
            <a:pPr marL="152400" indent="-152400">
              <a:spcAft>
                <a:spcPts val="600"/>
              </a:spcAft>
              <a:buSzPct val="100000"/>
              <a:buChar char="•"/>
            </a:pPr>
            <a:r>
              <a:rPr lang="en-US" sz="1250" dirty="0">
                <a:solidFill>
                  <a:schemeClr val="tx1"/>
                </a:solidFill>
              </a:rPr>
              <a:t>Explicit scope-leak test</a:t>
            </a:r>
            <a:endParaRPr lang="en-US" sz="1250" dirty="0"/>
          </a:p>
          <a:p>
            <a:pPr marL="152400" indent="-152400">
              <a:spcAft>
                <a:spcPts val="600"/>
              </a:spcAft>
              <a:buSzPct val="100000"/>
              <a:buChar char="•"/>
            </a:pPr>
            <a:r>
              <a:rPr lang="en-US" sz="1250" dirty="0">
                <a:solidFill>
                  <a:schemeClr val="tx1"/>
                </a:solidFill>
              </a:rPr>
              <a:t>CI on every PR to main</a:t>
            </a:r>
            <a:endParaRPr lang="en-US" sz="1250" dirty="0"/>
          </a:p>
          <a:p>
            <a:pPr marL="152400" indent="-152400">
              <a:spcAft>
                <a:spcPts val="600"/>
              </a:spcAft>
              <a:buSzPct val="100000"/>
              <a:buChar char="•"/>
            </a:pPr>
            <a:r>
              <a:rPr lang="en-US" sz="1250" dirty="0">
                <a:solidFill>
                  <a:schemeClr val="tx1"/>
                </a:solidFill>
              </a:rPr>
              <a:t>≥ 80 % API coverage, clean-env setup</a:t>
            </a:r>
            <a:endParaRPr lang="en-US" sz="125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REQUIREMENTS</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INITIAL PRODUCT BACKLOG</a:t>
            </a:r>
            <a:endParaRPr lang="en-US" sz="3600" dirty="0"/>
          </a:p>
        </p:txBody>
      </p:sp>
      <p:sp>
        <p:nvSpPr>
          <p:cNvPr id="4" name="Text 2"/>
          <p:cNvSpPr txBox="1"/>
          <p:nvPr/>
        </p:nvSpPr>
        <p:spPr>
          <a:xfrm>
            <a:off x="914400" y="1600200"/>
            <a:ext cx="1417320" cy="685800"/>
          </a:xfrm>
          <a:prstGeom prst="rect">
            <a:avLst/>
          </a:prstGeom>
          <a:noFill/>
          <a:ln/>
        </p:spPr>
        <p:txBody>
          <a:bodyPr wrap="square" lIns="0" tIns="0" rIns="0" bIns="0" rtlCol="0" anchor="ctr"/>
          <a:lstStyle/>
          <a:p>
            <a:pPr indent="0" marL="0">
              <a:buNone/>
            </a:pPr>
            <a:r>
              <a:rPr lang="en-US" sz="4000" b="1" dirty="0">
                <a:solidFill>
                  <a:schemeClr val="accent1"/>
                </a:solidFill>
              </a:rPr>
              <a:t>29</a:t>
            </a:r>
            <a:endParaRPr lang="en-US" sz="4000" dirty="0"/>
          </a:p>
        </p:txBody>
      </p:sp>
      <p:sp>
        <p:nvSpPr>
          <p:cNvPr id="5" name="Text 3"/>
          <p:cNvSpPr txBox="1"/>
          <p:nvPr/>
        </p:nvSpPr>
        <p:spPr>
          <a:xfrm>
            <a:off x="2377440" y="1600200"/>
            <a:ext cx="2651760" cy="685800"/>
          </a:xfrm>
          <a:prstGeom prst="rect">
            <a:avLst/>
          </a:prstGeom>
          <a:noFill/>
          <a:ln/>
        </p:spPr>
        <p:txBody>
          <a:bodyPr wrap="square" lIns="0" tIns="0" rIns="0" bIns="0" rtlCol="0" anchor="ctr"/>
          <a:lstStyle/>
          <a:p>
            <a:pPr indent="0" marL="0">
              <a:buNone/>
            </a:pPr>
            <a:r>
              <a:rPr lang="en-US" sz="1400" dirty="0">
                <a:solidFill>
                  <a:schemeClr val="tx1"/>
                </a:solidFill>
              </a:rPr>
              <a:t>user stories, all traced to F-/NF- requirements</a:t>
            </a:r>
            <a:endParaRPr lang="en-US" sz="1400" dirty="0"/>
          </a:p>
        </p:txBody>
      </p:sp>
      <p:sp>
        <p:nvSpPr>
          <p:cNvPr id="6" name="Text 4"/>
          <p:cNvSpPr txBox="1"/>
          <p:nvPr/>
        </p:nvSpPr>
        <p:spPr>
          <a:xfrm>
            <a:off x="914400" y="2624328"/>
            <a:ext cx="1417320" cy="685800"/>
          </a:xfrm>
          <a:prstGeom prst="rect">
            <a:avLst/>
          </a:prstGeom>
          <a:noFill/>
          <a:ln/>
        </p:spPr>
        <p:txBody>
          <a:bodyPr wrap="square" lIns="0" tIns="0" rIns="0" bIns="0" rtlCol="0" anchor="ctr"/>
          <a:lstStyle/>
          <a:p>
            <a:pPr indent="0" marL="0">
              <a:buNone/>
            </a:pPr>
            <a:r>
              <a:rPr lang="en-US" sz="4000" b="1" dirty="0">
                <a:solidFill>
                  <a:schemeClr val="accent1"/>
                </a:solidFill>
              </a:rPr>
              <a:t>131</a:t>
            </a:r>
            <a:endParaRPr lang="en-US" sz="4000" dirty="0"/>
          </a:p>
        </p:txBody>
      </p:sp>
      <p:sp>
        <p:nvSpPr>
          <p:cNvPr id="7" name="Text 5"/>
          <p:cNvSpPr txBox="1"/>
          <p:nvPr/>
        </p:nvSpPr>
        <p:spPr>
          <a:xfrm>
            <a:off x="2377440" y="2624328"/>
            <a:ext cx="2651760" cy="685800"/>
          </a:xfrm>
          <a:prstGeom prst="rect">
            <a:avLst/>
          </a:prstGeom>
          <a:noFill/>
          <a:ln/>
        </p:spPr>
        <p:txBody>
          <a:bodyPr wrap="square" lIns="0" tIns="0" rIns="0" bIns="0" rtlCol="0" anchor="ctr"/>
          <a:lstStyle/>
          <a:p>
            <a:pPr indent="0" marL="0">
              <a:buNone/>
            </a:pPr>
            <a:r>
              <a:rPr lang="en-US" sz="1400" dirty="0">
                <a:solidFill>
                  <a:schemeClr val="tx1"/>
                </a:solidFill>
              </a:rPr>
              <a:t>estimated effort points</a:t>
            </a:r>
            <a:endParaRPr lang="en-US" sz="1400" dirty="0"/>
          </a:p>
        </p:txBody>
      </p:sp>
      <p:sp>
        <p:nvSpPr>
          <p:cNvPr id="8" name="Text 6"/>
          <p:cNvSpPr txBox="1"/>
          <p:nvPr/>
        </p:nvSpPr>
        <p:spPr>
          <a:xfrm>
            <a:off x="914400" y="3648456"/>
            <a:ext cx="1417320" cy="685800"/>
          </a:xfrm>
          <a:prstGeom prst="rect">
            <a:avLst/>
          </a:prstGeom>
          <a:noFill/>
          <a:ln/>
        </p:spPr>
        <p:txBody>
          <a:bodyPr wrap="square" lIns="0" tIns="0" rIns="0" bIns="0" rtlCol="0" anchor="ctr"/>
          <a:lstStyle/>
          <a:p>
            <a:pPr indent="0" marL="0">
              <a:buNone/>
            </a:pPr>
            <a:r>
              <a:rPr lang="en-US" sz="4000" b="1" dirty="0">
                <a:solidFill>
                  <a:schemeClr val="accent1"/>
                </a:solidFill>
              </a:rPr>
              <a:t>5</a:t>
            </a:r>
            <a:endParaRPr lang="en-US" sz="4000" dirty="0"/>
          </a:p>
        </p:txBody>
      </p:sp>
      <p:sp>
        <p:nvSpPr>
          <p:cNvPr id="9" name="Text 7"/>
          <p:cNvSpPr txBox="1"/>
          <p:nvPr/>
        </p:nvSpPr>
        <p:spPr>
          <a:xfrm>
            <a:off x="2377440" y="3648456"/>
            <a:ext cx="2651760" cy="685800"/>
          </a:xfrm>
          <a:prstGeom prst="rect">
            <a:avLst/>
          </a:prstGeom>
          <a:noFill/>
          <a:ln/>
        </p:spPr>
        <p:txBody>
          <a:bodyPr wrap="square" lIns="0" tIns="0" rIns="0" bIns="0" rtlCol="0" anchor="ctr"/>
          <a:lstStyle/>
          <a:p>
            <a:pPr indent="0" marL="0">
              <a:buNone/>
            </a:pPr>
            <a:r>
              <a:rPr lang="en-US" sz="1400" dirty="0">
                <a:solidFill>
                  <a:schemeClr val="tx1"/>
                </a:solidFill>
              </a:rPr>
              <a:t>sprints planned (Sprint 3 → 7)</a:t>
            </a:r>
            <a:endParaRPr lang="en-US" sz="1400" dirty="0"/>
          </a:p>
        </p:txBody>
      </p:sp>
      <p:sp>
        <p:nvSpPr>
          <p:cNvPr id="10" name="prio-chip-0"/>
          <p:cNvSpPr/>
          <p:nvPr/>
        </p:nvSpPr>
        <p:spPr>
          <a:xfrm>
            <a:off x="914400" y="4709160"/>
            <a:ext cx="1463040" cy="420624"/>
          </a:xfrm>
          <a:prstGeom prst="roundRect">
            <a:avLst>
              <a:gd name="adj" fmla="val 17391"/>
            </a:avLst>
          </a:prstGeom>
          <a:solidFill>
            <a:srgbClr val="1F8A5B"/>
          </a:solidFill>
          <a:ln/>
        </p:spPr>
      </p:sp>
      <p:sp>
        <p:nvSpPr>
          <p:cNvPr id="11" name="Text 9"/>
          <p:cNvSpPr txBox="1"/>
          <p:nvPr/>
        </p:nvSpPr>
        <p:spPr>
          <a:xfrm>
            <a:off x="914400" y="4709160"/>
            <a:ext cx="1463040" cy="420624"/>
          </a:xfrm>
          <a:prstGeom prst="rect">
            <a:avLst/>
          </a:prstGeom>
          <a:noFill/>
          <a:ln/>
        </p:spPr>
        <p:txBody>
          <a:bodyPr wrap="square" lIns="0" tIns="0" rIns="0" bIns="0" rtlCol="0" anchor="ctr"/>
          <a:lstStyle/>
          <a:p>
            <a:pPr algn="ctr" indent="0" marL="0">
              <a:buNone/>
            </a:pPr>
            <a:r>
              <a:rPr lang="en-US" sz="1200" b="1" dirty="0">
                <a:solidFill>
                  <a:srgbClr val="FFFFFF"/>
                </a:solidFill>
              </a:rPr>
              <a:t>Priority 5</a:t>
            </a:r>
            <a:endParaRPr lang="en-US" sz="1200" dirty="0"/>
          </a:p>
        </p:txBody>
      </p:sp>
      <p:sp>
        <p:nvSpPr>
          <p:cNvPr id="12" name="Text 10"/>
          <p:cNvSpPr txBox="1"/>
          <p:nvPr/>
        </p:nvSpPr>
        <p:spPr>
          <a:xfrm>
            <a:off x="2514600" y="4709160"/>
            <a:ext cx="8778240" cy="420624"/>
          </a:xfrm>
          <a:prstGeom prst="rect">
            <a:avLst/>
          </a:prstGeom>
          <a:noFill/>
          <a:ln/>
        </p:spPr>
        <p:txBody>
          <a:bodyPr wrap="square" lIns="0" tIns="0" rIns="0" bIns="0" rtlCol="0" anchor="ctr"/>
          <a:lstStyle/>
          <a:p>
            <a:pPr indent="0" marL="0">
              <a:buNone/>
            </a:pPr>
            <a:r>
              <a:rPr lang="en-US" sz="1300" b="1" dirty="0">
                <a:solidFill>
                  <a:schemeClr val="tx1"/>
                </a:solidFill>
              </a:rPr>
              <a:t>US1–US12  </a:t>
            </a:r>
            <a:pPr indent="0" marL="0">
              <a:buNone/>
            </a:pPr>
            <a:r>
              <a:rPr lang="en-US" sz="1300" dirty="0">
                <a:solidFill>
                  <a:schemeClr val="tx1"/>
                </a:solidFill>
              </a:rPr>
              <a:t>Generator, login, scope, map, inactivity, fuse &amp; transformer colors</a:t>
            </a:r>
            <a:endParaRPr lang="en-US" sz="1300" dirty="0"/>
          </a:p>
        </p:txBody>
      </p:sp>
      <p:sp>
        <p:nvSpPr>
          <p:cNvPr id="13" name="prio-chip-1"/>
          <p:cNvSpPr/>
          <p:nvPr/>
        </p:nvSpPr>
        <p:spPr>
          <a:xfrm>
            <a:off x="914400" y="5239512"/>
            <a:ext cx="1463040" cy="420624"/>
          </a:xfrm>
          <a:prstGeom prst="roundRect">
            <a:avLst>
              <a:gd name="adj" fmla="val 17391"/>
            </a:avLst>
          </a:prstGeom>
          <a:solidFill>
            <a:srgbClr val="0070C0"/>
          </a:solidFill>
          <a:ln/>
        </p:spPr>
      </p:sp>
      <p:sp>
        <p:nvSpPr>
          <p:cNvPr id="14" name="Text 12"/>
          <p:cNvSpPr txBox="1"/>
          <p:nvPr/>
        </p:nvSpPr>
        <p:spPr>
          <a:xfrm>
            <a:off x="914400" y="5239512"/>
            <a:ext cx="1463040" cy="420624"/>
          </a:xfrm>
          <a:prstGeom prst="rect">
            <a:avLst/>
          </a:prstGeom>
          <a:noFill/>
          <a:ln/>
        </p:spPr>
        <p:txBody>
          <a:bodyPr wrap="square" lIns="0" tIns="0" rIns="0" bIns="0" rtlCol="0" anchor="ctr"/>
          <a:lstStyle/>
          <a:p>
            <a:pPr algn="ctr" indent="0" marL="0">
              <a:buNone/>
            </a:pPr>
            <a:r>
              <a:rPr lang="en-US" sz="1200" b="1" dirty="0">
                <a:solidFill>
                  <a:srgbClr val="FFFFFF"/>
                </a:solidFill>
              </a:rPr>
              <a:t>Priority 4</a:t>
            </a:r>
            <a:endParaRPr lang="en-US" sz="1200" dirty="0"/>
          </a:p>
        </p:txBody>
      </p:sp>
      <p:sp>
        <p:nvSpPr>
          <p:cNvPr id="15" name="Text 13"/>
          <p:cNvSpPr txBox="1"/>
          <p:nvPr/>
        </p:nvSpPr>
        <p:spPr>
          <a:xfrm>
            <a:off x="2514600" y="5239512"/>
            <a:ext cx="8778240" cy="420624"/>
          </a:xfrm>
          <a:prstGeom prst="rect">
            <a:avLst/>
          </a:prstGeom>
          <a:noFill/>
          <a:ln/>
        </p:spPr>
        <p:txBody>
          <a:bodyPr wrap="square" lIns="0" tIns="0" rIns="0" bIns="0" rtlCol="0" anchor="ctr"/>
          <a:lstStyle/>
          <a:p>
            <a:pPr indent="0" marL="0">
              <a:buNone/>
            </a:pPr>
            <a:r>
              <a:rPr lang="en-US" sz="1300" b="1" dirty="0">
                <a:solidFill>
                  <a:schemeClr val="tx1"/>
                </a:solidFill>
              </a:rPr>
              <a:t>US13–US26  </a:t>
            </a:r>
            <a:pPr indent="0" marL="0">
              <a:buNone/>
            </a:pPr>
            <a:r>
              <a:rPr lang="en-US" sz="1300" dirty="0">
                <a:solidFill>
                  <a:schemeClr val="tx1"/>
                </a:solidFill>
              </a:rPr>
              <a:t>Filters, faults &amp; alarms, users, history, indicators, export</a:t>
            </a:r>
            <a:endParaRPr lang="en-US" sz="1300" dirty="0"/>
          </a:p>
        </p:txBody>
      </p:sp>
      <p:sp>
        <p:nvSpPr>
          <p:cNvPr id="16" name="prio-chip-2"/>
          <p:cNvSpPr/>
          <p:nvPr/>
        </p:nvSpPr>
        <p:spPr>
          <a:xfrm>
            <a:off x="914400" y="5769864"/>
            <a:ext cx="1463040" cy="420624"/>
          </a:xfrm>
          <a:prstGeom prst="roundRect">
            <a:avLst>
              <a:gd name="adj" fmla="val 17391"/>
            </a:avLst>
          </a:prstGeom>
          <a:solidFill>
            <a:srgbClr val="6B7280"/>
          </a:solidFill>
          <a:ln/>
        </p:spPr>
      </p:sp>
      <p:sp>
        <p:nvSpPr>
          <p:cNvPr id="17" name="Text 15"/>
          <p:cNvSpPr txBox="1"/>
          <p:nvPr/>
        </p:nvSpPr>
        <p:spPr>
          <a:xfrm>
            <a:off x="914400" y="5769864"/>
            <a:ext cx="1463040" cy="420624"/>
          </a:xfrm>
          <a:prstGeom prst="rect">
            <a:avLst/>
          </a:prstGeom>
          <a:noFill/>
          <a:ln/>
        </p:spPr>
        <p:txBody>
          <a:bodyPr wrap="square" lIns="0" tIns="0" rIns="0" bIns="0" rtlCol="0" anchor="ctr"/>
          <a:lstStyle/>
          <a:p>
            <a:pPr algn="ctr" indent="0" marL="0">
              <a:buNone/>
            </a:pPr>
            <a:r>
              <a:rPr lang="en-US" sz="1200" b="1" dirty="0">
                <a:solidFill>
                  <a:srgbClr val="FFFFFF"/>
                </a:solidFill>
              </a:rPr>
              <a:t>Priority 3–2</a:t>
            </a:r>
            <a:endParaRPr lang="en-US" sz="1200" dirty="0"/>
          </a:p>
        </p:txBody>
      </p:sp>
      <p:sp>
        <p:nvSpPr>
          <p:cNvPr id="18" name="Text 16"/>
          <p:cNvSpPr txBox="1"/>
          <p:nvPr/>
        </p:nvSpPr>
        <p:spPr>
          <a:xfrm>
            <a:off x="2514600" y="5769864"/>
            <a:ext cx="8778240" cy="420624"/>
          </a:xfrm>
          <a:prstGeom prst="rect">
            <a:avLst/>
          </a:prstGeom>
          <a:noFill/>
          <a:ln/>
        </p:spPr>
        <p:txBody>
          <a:bodyPr wrap="square" lIns="0" tIns="0" rIns="0" bIns="0" rtlCol="0" anchor="ctr"/>
          <a:lstStyle/>
          <a:p>
            <a:pPr indent="0" marL="0">
              <a:buNone/>
            </a:pPr>
            <a:r>
              <a:rPr lang="en-US" sz="1300" b="1" dirty="0">
                <a:solidFill>
                  <a:schemeClr val="tx1"/>
                </a:solidFill>
              </a:rPr>
              <a:t>US27–US29  </a:t>
            </a:r>
            <a:pPr indent="0" marL="0">
              <a:buNone/>
            </a:pPr>
            <a:r>
              <a:rPr lang="en-US" sz="1300" dirty="0">
                <a:solidFill>
                  <a:schemeClr val="tx1"/>
                </a:solidFill>
              </a:rPr>
              <a:t>Alarm → map, momentary openings, Spanish chat (optional)</a:t>
            </a:r>
            <a:endParaRPr lang="en-US" sz="1300" dirty="0"/>
          </a:p>
        </p:txBody>
      </p:sp>
      <p:graphicFrame>
        <p:nvGraphicFramePr>
          <p:cNvPr id="19" name="effort-chart" descr=""/>
          <p:cNvGraphicFramePr/>
          <p:nvPr/>
        </p:nvGraphicFramePr>
        <p:xfrm>
          <a:off x="5120640" y="1508760"/>
          <a:ext cx="6217920" cy="3017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DESIGN</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INITIAL MOCKUPS (FIGMA)</a:t>
            </a:r>
            <a:endParaRPr lang="en-US" sz="3600" dirty="0"/>
          </a:p>
        </p:txBody>
      </p:sp>
      <p:sp>
        <p:nvSpPr>
          <p:cNvPr id="4" name="mockup-slot-0"/>
          <p:cNvSpPr/>
          <p:nvPr/>
        </p:nvSpPr>
        <p:spPr>
          <a:xfrm>
            <a:off x="914400" y="1600200"/>
            <a:ext cx="3337560" cy="3291840"/>
          </a:xfrm>
          <a:prstGeom prst="roundRect">
            <a:avLst>
              <a:gd name="adj" fmla="val 2778"/>
            </a:avLst>
          </a:prstGeom>
          <a:solidFill>
            <a:schemeClr val="bg2"/>
          </a:solidFill>
          <a:ln w="12700">
            <a:solidFill>
              <a:srgbClr val="C9CED6"/>
            </a:solidFill>
            <a:prstDash val="dash"/>
          </a:ln>
        </p:spPr>
      </p:sp>
      <p:sp>
        <p:nvSpPr>
          <p:cNvPr id="5" name="mockup-slot-label-0"/>
          <p:cNvSpPr txBox="1"/>
          <p:nvPr/>
        </p:nvSpPr>
        <p:spPr>
          <a:xfrm>
            <a:off x="914400" y="2971800"/>
            <a:ext cx="3337560" cy="457200"/>
          </a:xfrm>
          <a:prstGeom prst="rect">
            <a:avLst/>
          </a:prstGeom>
          <a:noFill/>
          <a:ln/>
        </p:spPr>
        <p:txBody>
          <a:bodyPr wrap="square" lIns="0" tIns="0" rIns="0" bIns="0" rtlCol="0" anchor="ctr"/>
          <a:lstStyle/>
          <a:p>
            <a:pPr algn="ctr" indent="0" marL="0">
              <a:buNone/>
            </a:pPr>
            <a:r>
              <a:rPr lang="en-US" sz="1300" dirty="0">
                <a:solidFill>
                  <a:schemeClr val="accent5"/>
                </a:solidFill>
              </a:rPr>
              <a:t>Figma screenshot</a:t>
            </a:r>
            <a:endParaRPr lang="en-US" sz="1300" dirty="0"/>
          </a:p>
        </p:txBody>
      </p:sp>
      <p:sp>
        <p:nvSpPr>
          <p:cNvPr id="6" name="Text 4"/>
          <p:cNvSpPr txBox="1"/>
          <p:nvPr/>
        </p:nvSpPr>
        <p:spPr>
          <a:xfrm>
            <a:off x="914400" y="5029200"/>
            <a:ext cx="3337560" cy="365760"/>
          </a:xfrm>
          <a:prstGeom prst="rect">
            <a:avLst/>
          </a:prstGeom>
          <a:noFill/>
          <a:ln/>
        </p:spPr>
        <p:txBody>
          <a:bodyPr wrap="square" lIns="0" tIns="0" rIns="0" bIns="0" rtlCol="0" anchor="ctr"/>
          <a:lstStyle/>
          <a:p>
            <a:pPr indent="0" marL="0">
              <a:buNone/>
            </a:pPr>
            <a:r>
              <a:rPr lang="en-US" sz="1600" b="1" dirty="0">
                <a:solidFill>
                  <a:schemeClr val="tx1"/>
                </a:solidFill>
              </a:rPr>
              <a:t>Live grid monitoring</a:t>
            </a:r>
            <a:endParaRPr lang="en-US" sz="1600" dirty="0"/>
          </a:p>
        </p:txBody>
      </p:sp>
      <p:sp>
        <p:nvSpPr>
          <p:cNvPr id="7" name="Text 5"/>
          <p:cNvSpPr txBox="1"/>
          <p:nvPr/>
        </p:nvSpPr>
        <p:spPr>
          <a:xfrm>
            <a:off x="914400" y="5394960"/>
            <a:ext cx="3337560" cy="685800"/>
          </a:xfrm>
          <a:prstGeom prst="rect">
            <a:avLst/>
          </a:prstGeom>
          <a:noFill/>
          <a:ln/>
        </p:spPr>
        <p:txBody>
          <a:bodyPr wrap="square" lIns="0" tIns="0" rIns="0" bIns="0" rtlCol="0" anchor="t"/>
          <a:lstStyle/>
          <a:p>
            <a:pPr indent="0" marL="0">
              <a:buNone/>
            </a:pPr>
            <a:r>
              <a:rPr lang="en-US" sz="1300" dirty="0">
                <a:solidFill>
                  <a:schemeClr val="tx1"/>
                </a:solidFill>
              </a:rPr>
              <a:t>Clustered map colored by node state + active-fault list by severity</a:t>
            </a:r>
            <a:endParaRPr lang="en-US" sz="1300" dirty="0"/>
          </a:p>
        </p:txBody>
      </p:sp>
      <p:sp>
        <p:nvSpPr>
          <p:cNvPr id="8" name="mockup-slot-1"/>
          <p:cNvSpPr/>
          <p:nvPr/>
        </p:nvSpPr>
        <p:spPr>
          <a:xfrm>
            <a:off x="4526280" y="1600200"/>
            <a:ext cx="3337560" cy="3291840"/>
          </a:xfrm>
          <a:prstGeom prst="roundRect">
            <a:avLst>
              <a:gd name="adj" fmla="val 2778"/>
            </a:avLst>
          </a:prstGeom>
          <a:solidFill>
            <a:schemeClr val="bg2"/>
          </a:solidFill>
          <a:ln w="12700">
            <a:solidFill>
              <a:srgbClr val="C9CED6"/>
            </a:solidFill>
            <a:prstDash val="dash"/>
          </a:ln>
        </p:spPr>
      </p:sp>
      <p:sp>
        <p:nvSpPr>
          <p:cNvPr id="9" name="mockup-slot-label-1"/>
          <p:cNvSpPr txBox="1"/>
          <p:nvPr/>
        </p:nvSpPr>
        <p:spPr>
          <a:xfrm>
            <a:off x="4526280" y="2971800"/>
            <a:ext cx="3337560" cy="457200"/>
          </a:xfrm>
          <a:prstGeom prst="rect">
            <a:avLst/>
          </a:prstGeom>
          <a:noFill/>
          <a:ln/>
        </p:spPr>
        <p:txBody>
          <a:bodyPr wrap="square" lIns="0" tIns="0" rIns="0" bIns="0" rtlCol="0" anchor="ctr"/>
          <a:lstStyle/>
          <a:p>
            <a:pPr algn="ctr" indent="0" marL="0">
              <a:buNone/>
            </a:pPr>
            <a:r>
              <a:rPr lang="en-US" sz="1300" dirty="0">
                <a:solidFill>
                  <a:schemeClr val="accent5"/>
                </a:solidFill>
              </a:rPr>
              <a:t>Figma screenshot</a:t>
            </a:r>
            <a:endParaRPr lang="en-US" sz="1300" dirty="0"/>
          </a:p>
        </p:txBody>
      </p:sp>
      <p:sp>
        <p:nvSpPr>
          <p:cNvPr id="10" name="Text 8"/>
          <p:cNvSpPr txBox="1"/>
          <p:nvPr/>
        </p:nvSpPr>
        <p:spPr>
          <a:xfrm>
            <a:off x="4526280" y="5029200"/>
            <a:ext cx="3337560" cy="365760"/>
          </a:xfrm>
          <a:prstGeom prst="rect">
            <a:avLst/>
          </a:prstGeom>
          <a:noFill/>
          <a:ln/>
        </p:spPr>
        <p:txBody>
          <a:bodyPr wrap="square" lIns="0" tIns="0" rIns="0" bIns="0" rtlCol="0" anchor="ctr"/>
          <a:lstStyle/>
          <a:p>
            <a:pPr indent="0" marL="0">
              <a:buNone/>
            </a:pPr>
            <a:r>
              <a:rPr lang="en-US" sz="1600" b="1" dirty="0">
                <a:solidFill>
                  <a:schemeClr val="tx1"/>
                </a:solidFill>
              </a:rPr>
              <a:t>Historical analysis</a:t>
            </a:r>
            <a:endParaRPr lang="en-US" sz="1600" dirty="0"/>
          </a:p>
        </p:txBody>
      </p:sp>
      <p:sp>
        <p:nvSpPr>
          <p:cNvPr id="11" name="Text 9"/>
          <p:cNvSpPr txBox="1"/>
          <p:nvPr/>
        </p:nvSpPr>
        <p:spPr>
          <a:xfrm>
            <a:off x="4526280" y="5394960"/>
            <a:ext cx="3337560" cy="685800"/>
          </a:xfrm>
          <a:prstGeom prst="rect">
            <a:avLst/>
          </a:prstGeom>
          <a:noFill/>
          <a:ln/>
        </p:spPr>
        <p:txBody>
          <a:bodyPr wrap="square" lIns="0" tIns="0" rIns="0" bIns="0" rtlCol="0" anchor="t"/>
          <a:lstStyle/>
          <a:p>
            <a:pPr indent="0" marL="0">
              <a:buNone/>
            </a:pPr>
            <a:r>
              <a:rPr lang="en-US" sz="1300" dirty="0">
                <a:solidFill>
                  <a:schemeClr val="tx1"/>
                </a:solidFill>
              </a:rPr>
              <a:t>Date presets, zone / circuit filters, KPIs, XLSX · CSV · PDF export</a:t>
            </a:r>
            <a:endParaRPr lang="en-US" sz="1300" dirty="0"/>
          </a:p>
        </p:txBody>
      </p:sp>
      <p:sp>
        <p:nvSpPr>
          <p:cNvPr id="12" name="mockup-slot-2"/>
          <p:cNvSpPr/>
          <p:nvPr/>
        </p:nvSpPr>
        <p:spPr>
          <a:xfrm>
            <a:off x="8138160" y="1600200"/>
            <a:ext cx="3337560" cy="3291840"/>
          </a:xfrm>
          <a:prstGeom prst="roundRect">
            <a:avLst>
              <a:gd name="adj" fmla="val 2778"/>
            </a:avLst>
          </a:prstGeom>
          <a:solidFill>
            <a:schemeClr val="bg2"/>
          </a:solidFill>
          <a:ln w="12700">
            <a:solidFill>
              <a:srgbClr val="C9CED6"/>
            </a:solidFill>
            <a:prstDash val="dash"/>
          </a:ln>
        </p:spPr>
      </p:sp>
      <p:sp>
        <p:nvSpPr>
          <p:cNvPr id="13" name="mockup-slot-label-2"/>
          <p:cNvSpPr txBox="1"/>
          <p:nvPr/>
        </p:nvSpPr>
        <p:spPr>
          <a:xfrm>
            <a:off x="8138160" y="2971800"/>
            <a:ext cx="3337560" cy="457200"/>
          </a:xfrm>
          <a:prstGeom prst="rect">
            <a:avLst/>
          </a:prstGeom>
          <a:noFill/>
          <a:ln/>
        </p:spPr>
        <p:txBody>
          <a:bodyPr wrap="square" lIns="0" tIns="0" rIns="0" bIns="0" rtlCol="0" anchor="ctr"/>
          <a:lstStyle/>
          <a:p>
            <a:pPr algn="ctr" indent="0" marL="0">
              <a:buNone/>
            </a:pPr>
            <a:r>
              <a:rPr lang="en-US" sz="1300" dirty="0">
                <a:solidFill>
                  <a:schemeClr val="accent5"/>
                </a:solidFill>
              </a:rPr>
              <a:t>Figma screenshot</a:t>
            </a:r>
            <a:endParaRPr lang="en-US" sz="1300" dirty="0"/>
          </a:p>
        </p:txBody>
      </p:sp>
      <p:sp>
        <p:nvSpPr>
          <p:cNvPr id="14" name="Text 12"/>
          <p:cNvSpPr txBox="1"/>
          <p:nvPr/>
        </p:nvSpPr>
        <p:spPr>
          <a:xfrm>
            <a:off x="8138160" y="5029200"/>
            <a:ext cx="3337560" cy="365760"/>
          </a:xfrm>
          <a:prstGeom prst="rect">
            <a:avLst/>
          </a:prstGeom>
          <a:noFill/>
          <a:ln/>
        </p:spPr>
        <p:txBody>
          <a:bodyPr wrap="square" lIns="0" tIns="0" rIns="0" bIns="0" rtlCol="0" anchor="ctr"/>
          <a:lstStyle/>
          <a:p>
            <a:pPr indent="0" marL="0">
              <a:buNone/>
            </a:pPr>
            <a:r>
              <a:rPr lang="en-US" sz="1600" b="1" dirty="0">
                <a:solidFill>
                  <a:schemeClr val="tx1"/>
                </a:solidFill>
              </a:rPr>
              <a:t>Node detail &amp; assistant</a:t>
            </a:r>
            <a:endParaRPr lang="en-US" sz="1600" dirty="0"/>
          </a:p>
        </p:txBody>
      </p:sp>
      <p:sp>
        <p:nvSpPr>
          <p:cNvPr id="15" name="Text 13"/>
          <p:cNvSpPr txBox="1"/>
          <p:nvPr/>
        </p:nvSpPr>
        <p:spPr>
          <a:xfrm>
            <a:off x="8138160" y="5394960"/>
            <a:ext cx="3337560" cy="685800"/>
          </a:xfrm>
          <a:prstGeom prst="rect">
            <a:avLst/>
          </a:prstGeom>
          <a:noFill/>
          <a:ln/>
        </p:spPr>
        <p:txBody>
          <a:bodyPr wrap="square" lIns="0" tIns="0" rIns="0" bIns="0" rtlCol="0" anchor="t"/>
          <a:lstStyle/>
          <a:p>
            <a:pPr indent="0" marL="0">
              <a:buNone/>
            </a:pPr>
            <a:r>
              <a:rPr lang="en-US" sz="1300" dirty="0">
                <a:solidFill>
                  <a:schemeClr val="tx1"/>
                </a:solidFill>
              </a:rPr>
              <a:t>Device state per node; chat panel answering predefined queries</a:t>
            </a:r>
            <a:endParaRPr lang="en-US" sz="1300" dirty="0"/>
          </a:p>
        </p:txBody>
      </p:sp>
      <p:sp>
        <p:nvSpPr>
          <p:cNvPr id="16" name="Text 14"/>
          <p:cNvSpPr txBox="1"/>
          <p:nvPr/>
        </p:nvSpPr>
        <p:spPr>
          <a:xfrm>
            <a:off x="914400" y="6172200"/>
            <a:ext cx="9601200" cy="320040"/>
          </a:xfrm>
          <a:prstGeom prst="rect">
            <a:avLst/>
          </a:prstGeom>
          <a:noFill/>
          <a:ln/>
        </p:spPr>
        <p:txBody>
          <a:bodyPr wrap="square" lIns="0" tIns="0" rIns="0" bIns="0" rtlCol="0" anchor="ctr"/>
          <a:lstStyle/>
          <a:p>
            <a:pPr indent="0" marL="0">
              <a:buNone/>
            </a:pPr>
            <a:r>
              <a:rPr lang="en-US" sz="1100" dirty="0">
                <a:solidFill>
                  <a:schemeClr val="accent5"/>
                </a:solidFill>
              </a:rPr>
              <a:t>Based on Colbits' reference screens · reviewed with the client · feedback tracked in Jira</a:t>
            </a:r>
            <a:endParaRPr lang="en-US" sz="11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ARCHITECTURE</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SYSTEM DECOMPOSITION</a:t>
            </a:r>
            <a:endParaRPr lang="en-US" sz="3600" dirty="0"/>
          </a:p>
        </p:txBody>
      </p:sp>
      <p:pic>
        <p:nvPicPr>
          <p:cNvPr id="4" name="Image 0" descr="Component diagram of the COLBITS platform: web frontend, backend REST API with six feature components and three shared components, Colbits data, platform data, development database and synthetic data generator">    </p:cNvPr>
          <p:cNvPicPr>
            <a:picLocks noChangeAspect="1"/>
          </p:cNvPicPr>
          <p:nvPr/>
        </p:nvPicPr>
        <p:blipFill>
          <a:blip r:embed="rId1"/>
          <a:stretch>
            <a:fillRect/>
          </a:stretch>
        </p:blipFill>
        <p:spPr>
          <a:xfrm>
            <a:off x="502920" y="1554480"/>
            <a:ext cx="7909377" cy="4709160"/>
          </a:xfrm>
          <a:prstGeom prst="rect">
            <a:avLst/>
          </a:prstGeom>
        </p:spPr>
      </p:pic>
      <p:sp>
        <p:nvSpPr>
          <p:cNvPr id="5" name="Text 2"/>
          <p:cNvSpPr txBox="1"/>
          <p:nvPr/>
        </p:nvSpPr>
        <p:spPr>
          <a:xfrm>
            <a:off x="8686617" y="1691640"/>
            <a:ext cx="3090855" cy="320040"/>
          </a:xfrm>
          <a:prstGeom prst="rect">
            <a:avLst/>
          </a:prstGeom>
          <a:noFill/>
          <a:ln/>
        </p:spPr>
        <p:txBody>
          <a:bodyPr wrap="square" lIns="0" tIns="0" rIns="0" bIns="0" rtlCol="0" anchor="ctr"/>
          <a:lstStyle/>
          <a:p>
            <a:pPr indent="0" marL="0">
              <a:buNone/>
            </a:pPr>
            <a:r>
              <a:rPr lang="en-US" sz="1400" b="1" dirty="0">
                <a:solidFill>
                  <a:schemeClr val="tx1"/>
                </a:solidFill>
              </a:rPr>
              <a:t>Legend</a:t>
            </a:r>
            <a:endParaRPr lang="en-US" sz="1400" dirty="0"/>
          </a:p>
        </p:txBody>
      </p:sp>
      <p:sp>
        <p:nvSpPr>
          <p:cNvPr id="6" name="legend-swatch-0"/>
          <p:cNvSpPr/>
          <p:nvPr/>
        </p:nvSpPr>
        <p:spPr>
          <a:xfrm>
            <a:off x="8686617" y="2167128"/>
            <a:ext cx="256032" cy="219456"/>
          </a:xfrm>
          <a:prstGeom prst="roundRect">
            <a:avLst>
              <a:gd name="adj" fmla="val 16667"/>
            </a:avLst>
          </a:prstGeom>
          <a:solidFill>
            <a:srgbClr val="6B6560"/>
          </a:solidFill>
          <a:ln/>
        </p:spPr>
      </p:sp>
      <p:sp>
        <p:nvSpPr>
          <p:cNvPr id="7" name="Text 4"/>
          <p:cNvSpPr txBox="1"/>
          <p:nvPr/>
        </p:nvSpPr>
        <p:spPr>
          <a:xfrm>
            <a:off x="9052377" y="2103120"/>
            <a:ext cx="2725095" cy="347472"/>
          </a:xfrm>
          <a:prstGeom prst="rect">
            <a:avLst/>
          </a:prstGeom>
          <a:noFill/>
          <a:ln/>
        </p:spPr>
        <p:txBody>
          <a:bodyPr wrap="square" lIns="0" tIns="0" rIns="0" bIns="0" rtlCol="0" anchor="ctr"/>
          <a:lstStyle/>
          <a:p>
            <a:pPr indent="0" marL="0">
              <a:buNone/>
            </a:pPr>
            <a:r>
              <a:rPr lang="en-US" sz="1200" dirty="0">
                <a:solidFill>
                  <a:schemeClr val="tx1"/>
                </a:solidFill>
              </a:rPr>
              <a:t>Colbits already has it</a:t>
            </a:r>
            <a:endParaRPr lang="en-US" sz="1200" dirty="0"/>
          </a:p>
        </p:txBody>
      </p:sp>
      <p:sp>
        <p:nvSpPr>
          <p:cNvPr id="8" name="legend-swatch-1"/>
          <p:cNvSpPr/>
          <p:nvPr/>
        </p:nvSpPr>
        <p:spPr>
          <a:xfrm>
            <a:off x="8686617" y="2578608"/>
            <a:ext cx="256032" cy="219456"/>
          </a:xfrm>
          <a:prstGeom prst="roundRect">
            <a:avLst>
              <a:gd name="adj" fmla="val 16667"/>
            </a:avLst>
          </a:prstGeom>
          <a:solidFill>
            <a:srgbClr val="1F8A5B"/>
          </a:solidFill>
          <a:ln/>
        </p:spPr>
      </p:sp>
      <p:sp>
        <p:nvSpPr>
          <p:cNvPr id="9" name="Text 6"/>
          <p:cNvSpPr txBox="1"/>
          <p:nvPr/>
        </p:nvSpPr>
        <p:spPr>
          <a:xfrm>
            <a:off x="9052377" y="2514600"/>
            <a:ext cx="2725095" cy="347472"/>
          </a:xfrm>
          <a:prstGeom prst="rect">
            <a:avLst/>
          </a:prstGeom>
          <a:noFill/>
          <a:ln/>
        </p:spPr>
        <p:txBody>
          <a:bodyPr wrap="square" lIns="0" tIns="0" rIns="0" bIns="0" rtlCol="0" anchor="ctr"/>
          <a:lstStyle/>
          <a:p>
            <a:pPr indent="0" marL="0">
              <a:buNone/>
            </a:pPr>
            <a:r>
              <a:rPr lang="en-US" sz="1200" dirty="0">
                <a:solidFill>
                  <a:schemeClr val="tx1"/>
                </a:solidFill>
              </a:rPr>
              <a:t>We build it</a:t>
            </a:r>
            <a:endParaRPr lang="en-US" sz="1200" dirty="0"/>
          </a:p>
        </p:txBody>
      </p:sp>
      <p:sp>
        <p:nvSpPr>
          <p:cNvPr id="10" name="legend-swatch-2"/>
          <p:cNvSpPr/>
          <p:nvPr/>
        </p:nvSpPr>
        <p:spPr>
          <a:xfrm>
            <a:off x="8686617" y="2990088"/>
            <a:ext cx="256032" cy="219456"/>
          </a:xfrm>
          <a:prstGeom prst="roundRect">
            <a:avLst>
              <a:gd name="adj" fmla="val 16667"/>
            </a:avLst>
          </a:prstGeom>
          <a:solidFill>
            <a:srgbClr val="A7D7BF"/>
          </a:solidFill>
          <a:ln/>
        </p:spPr>
      </p:sp>
      <p:sp>
        <p:nvSpPr>
          <p:cNvPr id="11" name="Text 8"/>
          <p:cNvSpPr txBox="1"/>
          <p:nvPr/>
        </p:nvSpPr>
        <p:spPr>
          <a:xfrm>
            <a:off x="9052377" y="2926080"/>
            <a:ext cx="2725095" cy="347472"/>
          </a:xfrm>
          <a:prstGeom prst="rect">
            <a:avLst/>
          </a:prstGeom>
          <a:noFill/>
          <a:ln/>
        </p:spPr>
        <p:txBody>
          <a:bodyPr wrap="square" lIns="0" tIns="0" rIns="0" bIns="0" rtlCol="0" anchor="ctr"/>
          <a:lstStyle/>
          <a:p>
            <a:pPr indent="0" marL="0">
              <a:buNone/>
            </a:pPr>
            <a:r>
              <a:rPr lang="en-US" sz="1200" dirty="0">
                <a:solidFill>
                  <a:schemeClr val="tx1"/>
                </a:solidFill>
              </a:rPr>
              <a:t>Optional (dashed)</a:t>
            </a:r>
            <a:endParaRPr lang="en-US" sz="1200" dirty="0"/>
          </a:p>
        </p:txBody>
      </p:sp>
      <p:sp>
        <p:nvSpPr>
          <p:cNvPr id="12" name="Text 9"/>
          <p:cNvSpPr txBox="1"/>
          <p:nvPr/>
        </p:nvSpPr>
        <p:spPr>
          <a:xfrm>
            <a:off x="8686617" y="3520440"/>
            <a:ext cx="3090855" cy="320040"/>
          </a:xfrm>
          <a:prstGeom prst="rect">
            <a:avLst/>
          </a:prstGeom>
          <a:noFill/>
          <a:ln/>
        </p:spPr>
        <p:txBody>
          <a:bodyPr wrap="square" lIns="0" tIns="0" rIns="0" bIns="0" rtlCol="0" anchor="ctr"/>
          <a:lstStyle/>
          <a:p>
            <a:pPr indent="0" marL="0">
              <a:buNone/>
            </a:pPr>
            <a:r>
              <a:rPr lang="en-US" sz="1400" b="1" dirty="0">
                <a:solidFill>
                  <a:schemeClr val="tx1"/>
                </a:solidFill>
              </a:rPr>
              <a:t>Key points</a:t>
            </a:r>
            <a:endParaRPr lang="en-US" sz="1400" dirty="0"/>
          </a:p>
        </p:txBody>
      </p:sp>
      <p:sp>
        <p:nvSpPr>
          <p:cNvPr id="13" name="Text 10"/>
          <p:cNvSpPr txBox="1"/>
          <p:nvPr/>
        </p:nvSpPr>
        <p:spPr>
          <a:xfrm>
            <a:off x="8686617" y="3886200"/>
            <a:ext cx="3090855" cy="23774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Both roles use only the web frontend</a:t>
            </a:r>
            <a:endParaRPr lang="en-US" sz="1200" dirty="0"/>
          </a:p>
          <a:p>
            <a:pPr marL="152400" indent="-152400">
              <a:spcAft>
                <a:spcPts val="500"/>
              </a:spcAft>
              <a:buSzPct val="100000"/>
              <a:buChar char="•"/>
            </a:pPr>
            <a:r>
              <a:rPr lang="en-US" sz="1200" dirty="0">
                <a:solidFill>
                  <a:schemeClr val="tx1"/>
                </a:solidFill>
              </a:rPr>
              <a:t>6 feature components, 3 shared ones</a:t>
            </a:r>
            <a:endParaRPr lang="en-US" sz="1200" dirty="0"/>
          </a:p>
          <a:p>
            <a:pPr marL="152400" indent="-152400">
              <a:spcAft>
                <a:spcPts val="500"/>
              </a:spcAft>
              <a:buSzPct val="100000"/>
              <a:buChar char="•"/>
            </a:pPr>
            <a:r>
              <a:rPr lang="en-US" sz="1200" dirty="0">
                <a:solidFill>
                  <a:schemeClr val="tx1"/>
                </a:solidFill>
              </a:rPr>
              <a:t>Colbits data: read only</a:t>
            </a:r>
            <a:endParaRPr lang="en-US" sz="1200" dirty="0"/>
          </a:p>
          <a:p>
            <a:pPr marL="152400" indent="-152400">
              <a:spcAft>
                <a:spcPts val="500"/>
              </a:spcAft>
              <a:buSzPct val="100000"/>
              <a:buChar char="•"/>
            </a:pPr>
            <a:r>
              <a:rPr lang="en-US" sz="1200" dirty="0">
                <a:solidFill>
                  <a:schemeClr val="tx1"/>
                </a:solidFill>
              </a:rPr>
              <a:t>Our data: users, scope, faults, device history</a:t>
            </a:r>
            <a:endParaRPr lang="en-US" sz="1200" dirty="0"/>
          </a:p>
          <a:p>
            <a:pPr marL="152400" indent="-152400">
              <a:spcAft>
                <a:spcPts val="500"/>
              </a:spcAft>
              <a:buSzPct val="100000"/>
              <a:buChar char="•"/>
            </a:pPr>
            <a:r>
              <a:rPr lang="en-US" sz="1200" dirty="0">
                <a:solidFill>
                  <a:schemeClr val="tx1"/>
                </a:solidFill>
              </a:rPr>
              <a:t>Generator fills a separate dev / test DB</a:t>
            </a:r>
            <a:endParaRPr lang="en-US" sz="1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ARCHITECTURE</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SEQUENCE 1 · SECURE LIVE MAP</a:t>
            </a:r>
            <a:endParaRPr lang="en-US" sz="3600" dirty="0"/>
          </a:p>
        </p:txBody>
      </p:sp>
      <p:pic>
        <p:nvPicPr>
          <p:cNvPr id="4" name="Image 0" descr="Sequence diagram: login with JWT, scoped live map request, read-only query to TimescaleDB, color evaluation and rendering on the Leaflet map">    </p:cNvPr>
          <p:cNvPicPr>
            <a:picLocks noChangeAspect="1"/>
          </p:cNvPicPr>
          <p:nvPr/>
        </p:nvPicPr>
        <p:blipFill>
          <a:blip r:embed="rId1"/>
          <a:stretch>
            <a:fillRect/>
          </a:stretch>
        </p:blipFill>
        <p:spPr>
          <a:xfrm>
            <a:off x="502920" y="1554480"/>
            <a:ext cx="7540517" cy="4754880"/>
          </a:xfrm>
          <a:prstGeom prst="rect">
            <a:avLst/>
          </a:prstGeom>
        </p:spPr>
      </p:pic>
      <p:sp>
        <p:nvSpPr>
          <p:cNvPr id="5" name="seq1-step-1"/>
          <p:cNvSpPr/>
          <p:nvPr/>
        </p:nvSpPr>
        <p:spPr>
          <a:xfrm>
            <a:off x="8363477" y="1645920"/>
            <a:ext cx="384048" cy="384048"/>
          </a:xfrm>
          <a:prstGeom prst="ellipse">
            <a:avLst/>
          </a:prstGeom>
          <a:solidFill>
            <a:schemeClr val="accent1"/>
          </a:solidFill>
          <a:ln/>
        </p:spPr>
      </p:sp>
      <p:sp>
        <p:nvSpPr>
          <p:cNvPr id="6" name="Text 3"/>
          <p:cNvSpPr txBox="1"/>
          <p:nvPr/>
        </p:nvSpPr>
        <p:spPr>
          <a:xfrm>
            <a:off x="8363477"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8866397" y="1600200"/>
            <a:ext cx="2911075" cy="822960"/>
          </a:xfrm>
          <a:prstGeom prst="rect">
            <a:avLst/>
          </a:prstGeom>
          <a:noFill/>
          <a:ln/>
        </p:spPr>
        <p:txBody>
          <a:bodyPr wrap="square" lIns="0" tIns="0" rIns="0" bIns="0" rtlCol="0" anchor="t"/>
          <a:lstStyle/>
          <a:p>
            <a:pPr indent="0" marL="0">
              <a:buNone/>
            </a:pPr>
            <a:r>
              <a:rPr lang="en-US" sz="1200" b="1" dirty="0">
                <a:solidFill>
                  <a:schemeClr val="tx1"/>
                </a:solidFill>
              </a:rPr>
              <a:t>Login</a:t>
            </a:r>
            <a:endParaRPr lang="en-US" sz="1200" dirty="0"/>
          </a:p>
          <a:p>
            <a:pPr indent="0" marL="0">
              <a:buNone/>
            </a:pPr>
            <a:r>
              <a:rPr lang="en-US" sz="1200" dirty="0">
                <a:solidFill>
                  <a:schemeClr val="tx1"/>
                </a:solidFill>
              </a:rPr>
              <a:t>credentials checked against the hash; JWT with role and scope</a:t>
            </a:r>
            <a:endParaRPr lang="en-US" sz="1200" dirty="0"/>
          </a:p>
        </p:txBody>
      </p:sp>
      <p:sp>
        <p:nvSpPr>
          <p:cNvPr id="8" name="seq1-step-2"/>
          <p:cNvSpPr/>
          <p:nvPr/>
        </p:nvSpPr>
        <p:spPr>
          <a:xfrm>
            <a:off x="8363477" y="2560320"/>
            <a:ext cx="384048" cy="384048"/>
          </a:xfrm>
          <a:prstGeom prst="ellipse">
            <a:avLst/>
          </a:prstGeom>
          <a:solidFill>
            <a:schemeClr val="accent1"/>
          </a:solidFill>
          <a:ln/>
        </p:spPr>
      </p:sp>
      <p:sp>
        <p:nvSpPr>
          <p:cNvPr id="9" name="Text 6"/>
          <p:cNvSpPr txBox="1"/>
          <p:nvPr/>
        </p:nvSpPr>
        <p:spPr>
          <a:xfrm>
            <a:off x="8363477" y="2560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8866397" y="2514600"/>
            <a:ext cx="2911075" cy="822960"/>
          </a:xfrm>
          <a:prstGeom prst="rect">
            <a:avLst/>
          </a:prstGeom>
          <a:noFill/>
          <a:ln/>
        </p:spPr>
        <p:txBody>
          <a:bodyPr wrap="square" lIns="0" tIns="0" rIns="0" bIns="0" rtlCol="0" anchor="t"/>
          <a:lstStyle/>
          <a:p>
            <a:pPr indent="0" marL="0">
              <a:buNone/>
            </a:pPr>
            <a:r>
              <a:rPr lang="en-US" sz="1200" b="1" dirty="0">
                <a:solidFill>
                  <a:schemeClr val="tx1"/>
                </a:solidFill>
              </a:rPr>
              <a:t>Scoped request</a:t>
            </a:r>
            <a:endParaRPr lang="en-US" sz="1200" dirty="0"/>
          </a:p>
          <a:p>
            <a:pPr indent="0" marL="0">
              <a:buNone/>
            </a:pPr>
            <a:r>
              <a:rPr lang="en-US" sz="1200" dirty="0">
                <a:solidFill>
                  <a:schemeClr val="tx1"/>
                </a:solidFill>
              </a:rPr>
              <a:t>every call carries the token</a:t>
            </a:r>
            <a:endParaRPr lang="en-US" sz="1200" dirty="0"/>
          </a:p>
        </p:txBody>
      </p:sp>
      <p:sp>
        <p:nvSpPr>
          <p:cNvPr id="11" name="seq1-step-3"/>
          <p:cNvSpPr/>
          <p:nvPr/>
        </p:nvSpPr>
        <p:spPr>
          <a:xfrm>
            <a:off x="8363477" y="3474720"/>
            <a:ext cx="384048" cy="384048"/>
          </a:xfrm>
          <a:prstGeom prst="ellipse">
            <a:avLst/>
          </a:prstGeom>
          <a:solidFill>
            <a:schemeClr val="accent1"/>
          </a:solidFill>
          <a:ln/>
        </p:spPr>
      </p:sp>
      <p:sp>
        <p:nvSpPr>
          <p:cNvPr id="12" name="Text 9"/>
          <p:cNvSpPr txBox="1"/>
          <p:nvPr/>
        </p:nvSpPr>
        <p:spPr>
          <a:xfrm>
            <a:off x="8363477"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0"/>
          <p:cNvSpPr txBox="1"/>
          <p:nvPr/>
        </p:nvSpPr>
        <p:spPr>
          <a:xfrm>
            <a:off x="8866397" y="3429000"/>
            <a:ext cx="2911075" cy="822960"/>
          </a:xfrm>
          <a:prstGeom prst="rect">
            <a:avLst/>
          </a:prstGeom>
          <a:noFill/>
          <a:ln/>
        </p:spPr>
        <p:txBody>
          <a:bodyPr wrap="square" lIns="0" tIns="0" rIns="0" bIns="0" rtlCol="0" anchor="t"/>
          <a:lstStyle/>
          <a:p>
            <a:pPr indent="0" marL="0">
              <a:buNone/>
            </a:pPr>
            <a:r>
              <a:rPr lang="en-US" sz="1200" b="1" dirty="0">
                <a:solidFill>
                  <a:schemeClr val="tx1"/>
                </a:solidFill>
              </a:rPr>
              <a:t>Scope filter</a:t>
            </a:r>
            <a:endParaRPr lang="en-US" sz="1200" dirty="0"/>
          </a:p>
          <a:p>
            <a:pPr indent="0" marL="0">
              <a:buNone/>
            </a:pPr>
            <a:r>
              <a:rPr lang="en-US" sz="1200" dirty="0">
                <a:solidFill>
                  <a:schemeClr val="tx1"/>
                </a:solidFill>
              </a:rPr>
              <a:t>applied on the server, before any query</a:t>
            </a:r>
            <a:endParaRPr lang="en-US" sz="1200" dirty="0"/>
          </a:p>
        </p:txBody>
      </p:sp>
      <p:sp>
        <p:nvSpPr>
          <p:cNvPr id="14" name="seq1-step-4"/>
          <p:cNvSpPr/>
          <p:nvPr/>
        </p:nvSpPr>
        <p:spPr>
          <a:xfrm>
            <a:off x="8363477" y="4389120"/>
            <a:ext cx="384048" cy="384048"/>
          </a:xfrm>
          <a:prstGeom prst="ellipse">
            <a:avLst/>
          </a:prstGeom>
          <a:solidFill>
            <a:schemeClr val="accent1"/>
          </a:solidFill>
          <a:ln/>
        </p:spPr>
      </p:sp>
      <p:sp>
        <p:nvSpPr>
          <p:cNvPr id="15" name="Text 12"/>
          <p:cNvSpPr txBox="1"/>
          <p:nvPr/>
        </p:nvSpPr>
        <p:spPr>
          <a:xfrm>
            <a:off x="8363477"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6" name="Text 13"/>
          <p:cNvSpPr txBox="1"/>
          <p:nvPr/>
        </p:nvSpPr>
        <p:spPr>
          <a:xfrm>
            <a:off x="8866397" y="4343400"/>
            <a:ext cx="2911075" cy="822960"/>
          </a:xfrm>
          <a:prstGeom prst="rect">
            <a:avLst/>
          </a:prstGeom>
          <a:noFill/>
          <a:ln/>
        </p:spPr>
        <p:txBody>
          <a:bodyPr wrap="square" lIns="0" tIns="0" rIns="0" bIns="0" rtlCol="0" anchor="t"/>
          <a:lstStyle/>
          <a:p>
            <a:pPr indent="0" marL="0">
              <a:buNone/>
            </a:pPr>
            <a:r>
              <a:rPr lang="en-US" sz="1200" b="1" dirty="0">
                <a:solidFill>
                  <a:schemeClr val="tx1"/>
                </a:solidFill>
              </a:rPr>
              <a:t>Read-only query</a:t>
            </a:r>
            <a:endParaRPr lang="en-US" sz="1200" dirty="0"/>
          </a:p>
          <a:p>
            <a:pPr indent="0" marL="0">
              <a:buNone/>
            </a:pPr>
            <a:r>
              <a:rPr lang="en-US" sz="1200" dirty="0">
                <a:solidFill>
                  <a:schemeClr val="tx1"/>
                </a:solidFill>
              </a:rPr>
              <a:t>latest Falcon &amp; SMAC telemetry</a:t>
            </a:r>
            <a:endParaRPr lang="en-US" sz="1200" dirty="0"/>
          </a:p>
        </p:txBody>
      </p:sp>
      <p:sp>
        <p:nvSpPr>
          <p:cNvPr id="17" name="seq1-step-5"/>
          <p:cNvSpPr/>
          <p:nvPr/>
        </p:nvSpPr>
        <p:spPr>
          <a:xfrm>
            <a:off x="8363477" y="5303520"/>
            <a:ext cx="384048" cy="384048"/>
          </a:xfrm>
          <a:prstGeom prst="ellipse">
            <a:avLst/>
          </a:prstGeom>
          <a:solidFill>
            <a:schemeClr val="accent1"/>
          </a:solidFill>
          <a:ln/>
        </p:spPr>
      </p:sp>
      <p:sp>
        <p:nvSpPr>
          <p:cNvPr id="18" name="Text 15"/>
          <p:cNvSpPr txBox="1"/>
          <p:nvPr/>
        </p:nvSpPr>
        <p:spPr>
          <a:xfrm>
            <a:off x="8363477" y="5303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9" name="Text 16"/>
          <p:cNvSpPr txBox="1"/>
          <p:nvPr/>
        </p:nvSpPr>
        <p:spPr>
          <a:xfrm>
            <a:off x="8866397" y="5257800"/>
            <a:ext cx="2911075" cy="822960"/>
          </a:xfrm>
          <a:prstGeom prst="rect">
            <a:avLst/>
          </a:prstGeom>
          <a:noFill/>
          <a:ln/>
        </p:spPr>
        <p:txBody>
          <a:bodyPr wrap="square" lIns="0" tIns="0" rIns="0" bIns="0" rtlCol="0" anchor="t"/>
          <a:lstStyle/>
          <a:p>
            <a:pPr indent="0" marL="0">
              <a:buNone/>
            </a:pPr>
            <a:r>
              <a:rPr lang="en-US" sz="1200" b="1" dirty="0">
                <a:solidFill>
                  <a:schemeClr val="tx1"/>
                </a:solidFill>
              </a:rPr>
              <a:t>Node colors</a:t>
            </a:r>
            <a:endParaRPr lang="en-US" sz="1200" dirty="0"/>
          </a:p>
          <a:p>
            <a:pPr indent="0" marL="0">
              <a:buNone/>
            </a:pPr>
            <a:r>
              <a:rPr lang="en-US" sz="1200" dirty="0">
                <a:solidFill>
                  <a:schemeClr val="tx1"/>
                </a:solidFill>
              </a:rPr>
              <a:t>computed in the API, drawn on the map</a:t>
            </a:r>
            <a:endParaRPr lang="en-US" sz="1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ARCHITECTURE</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SEQUENCE 2 · FAULTS &amp; REPORTS</a:t>
            </a:r>
            <a:endParaRPr lang="en-US" sz="3600" dirty="0"/>
          </a:p>
        </p:txBody>
      </p:sp>
      <p:pic>
        <p:nvPicPr>
          <p:cNvPr id="4" name="Image 0" descr="Sequence diagram: background fault engine polls Colbits TimescaleDB read-only and writes grouped faults to the platform database; operator requests history and exports a PDF or XLSX report">    </p:cNvPr>
          <p:cNvPicPr>
            <a:picLocks noChangeAspect="1"/>
          </p:cNvPicPr>
          <p:nvPr/>
        </p:nvPicPr>
        <p:blipFill>
          <a:blip r:embed="rId1"/>
          <a:stretch>
            <a:fillRect/>
          </a:stretch>
        </p:blipFill>
        <p:spPr>
          <a:xfrm>
            <a:off x="1022144" y="1554480"/>
            <a:ext cx="10144664" cy="4800600"/>
          </a:xfrm>
          <a:prstGeom prst="rect">
            <a:avLst/>
          </a:prstGeom>
        </p:spPr>
      </p:pic>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ARCHITECTURE</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KEY ARCHITECTURAL DECISIONS</a:t>
            </a:r>
            <a:endParaRPr lang="en-US" sz="3600" dirty="0"/>
          </a:p>
        </p:txBody>
      </p:sp>
      <p:graphicFrame>
        <p:nvGraphicFramePr>
          <p:cNvPr id="9" name="decisions-table"/>
          <p:cNvGraphicFramePr>
            <a:graphicFrameLocks noGrp="1"/>
          </p:cNvGraphicFramePr>
          <p:nvPr>
            <p:extLst>
              <p:ext uri="{D42A27DB-BD31-4B8C-83A1-F6EECF244321}">
                <p14:modId xmlns:p14="http://schemas.microsoft.com/office/powerpoint/2010/main" val="1579011935"/>
              </p:ext>
            </p:extLst>
          </p:nvPr>
        </p:nvGraphicFramePr>
        <p:xfrm>
          <a:off x="914400" y="1554480"/>
          <a:ext cx="10607040" cy="914400"/>
        </p:xfrm>
        <a:graphic>
          <a:graphicData uri="http://schemas.openxmlformats.org/drawingml/2006/table">
            <a:tbl>
              <a:tblPr/>
              <a:tblGrid>
                <a:gridCol w="3657600"/>
                <a:gridCol w="4480560"/>
                <a:gridCol w="2468880"/>
              </a:tblGrid>
              <a:tr h="603504">
                <a:tc>
                  <a:txBody>
                    <a:bodyPr/>
                    <a:lstStyle/>
                    <a:p>
                      <a:pPr indent="0" marL="0">
                        <a:buNone/>
                      </a:pPr>
                      <a:r>
                        <a:rPr lang="en-US" sz="1300" b="1" dirty="0">
                          <a:solidFill>
                            <a:srgbClr val="FFFFFF"/>
                          </a:solidFill>
                          <a:latin typeface="Montserrat" pitchFamily="34" charset="0"/>
                          <a:ea typeface="Montserrat" pitchFamily="34" charset="-122"/>
                          <a:cs typeface="Montserrat" pitchFamily="34" charset="-120"/>
                        </a:rPr>
                        <a:t>Decision</a:t>
                      </a:r>
                      <a:endParaRPr lang="en-US" sz="130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Montserrat" pitchFamily="34" charset="0"/>
                          <a:ea typeface="Montserrat" pitchFamily="34" charset="-122"/>
                          <a:cs typeface="Montserrat" pitchFamily="34" charset="-120"/>
                        </a:rPr>
                        <a:t>Why</a:t>
                      </a:r>
                      <a:endParaRPr lang="en-US" sz="130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Montserrat" pitchFamily="34" charset="0"/>
                          <a:ea typeface="Montserrat" pitchFamily="34" charset="-122"/>
                          <a:cs typeface="Montserrat" pitchFamily="34" charset="-120"/>
                        </a:rPr>
                        <a:t>Rejected alternative</a:t>
                      </a:r>
                      <a:endParaRPr lang="en-US" sz="130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6324F"/>
                    </a:solidFill>
                  </a:tcPr>
                </a:tc>
              </a:tr>
              <a:tr h="603504">
                <a:tc>
                  <a:txBody>
                    <a:bodyPr/>
                    <a:lstStyle/>
                    <a:p>
                      <a:pPr indent="0" marL="0">
                        <a:buNone/>
                      </a:pPr>
                      <a:r>
                        <a:rPr lang="en-US" sz="1250" b="1" dirty="0">
                          <a:solidFill>
                            <a:srgbClr val="000000"/>
                          </a:solidFill>
                          <a:latin typeface="Montserrat" pitchFamily="34" charset="0"/>
                          <a:ea typeface="Montserrat" pitchFamily="34" charset="-122"/>
                          <a:cs typeface="Montserrat" pitchFamily="34" charset="-120"/>
                        </a:rPr>
                        <a:t>Modular monolith: one REST API with feature modules</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c>
                  <a:txBody>
                    <a:bodyPr/>
                    <a:lstStyle/>
                    <a:p>
                      <a:pPr indent="0" marL="0">
                        <a:buNone/>
                      </a:pPr>
                      <a:r>
                        <a:rPr lang="en-US" sz="1250" dirty="0">
                          <a:solidFill>
                            <a:srgbClr val="000000"/>
                          </a:solidFill>
                          <a:latin typeface="Montserrat" pitchFamily="34" charset="0"/>
                          <a:ea typeface="Montserrat" pitchFamily="34" charset="-122"/>
                          <a:cs typeface="Montserrat" pitchFamily="34" charset="-120"/>
                        </a:rPr>
                        <a:t>6 part-time devs, 14 weeks: one deploy, one test suite; modules mirror the diagram</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c>
                  <a:txBody>
                    <a:bodyPr/>
                    <a:lstStyle/>
                    <a:p>
                      <a:pPr indent="0" marL="0">
                        <a:buNone/>
                      </a:pPr>
                      <a:r>
                        <a:rPr lang="en-US" sz="1250" dirty="0">
                          <a:solidFill>
                            <a:srgbClr val="6B7280"/>
                          </a:solidFill>
                          <a:latin typeface="Montserrat" pitchFamily="34" charset="0"/>
                          <a:ea typeface="Montserrat" pitchFamily="34" charset="-122"/>
                          <a:cs typeface="Montserrat" pitchFamily="34" charset="-120"/>
                        </a:rPr>
                        <a:t>Microservices</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r>
              <a:tr h="603504">
                <a:tc>
                  <a:txBody>
                    <a:bodyPr/>
                    <a:lstStyle/>
                    <a:p>
                      <a:pPr indent="0" marL="0">
                        <a:buNone/>
                      </a:pPr>
                      <a:r>
                        <a:rPr lang="en-US" sz="1250" b="1" dirty="0">
                          <a:solidFill>
                            <a:srgbClr val="000000"/>
                          </a:solidFill>
                          <a:latin typeface="Montserrat" pitchFamily="34" charset="0"/>
                          <a:ea typeface="Montserrat" pitchFamily="34" charset="-122"/>
                          <a:cs typeface="Montserrat" pitchFamily="34" charset="-120"/>
                        </a:rPr>
                        <a:t>Colbits data read-only; our state in a separate schema</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Montserrat" pitchFamily="34" charset="0"/>
                          <a:ea typeface="Montserrat" pitchFamily="34" charset="-122"/>
                          <a:cs typeface="Montserrat" pitchFamily="34" charset="-120"/>
                        </a:rPr>
                        <a:t>Production stays untouched (NF-03); enforced by a SELECT-only DB role</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50" dirty="0">
                          <a:solidFill>
                            <a:srgbClr val="6B7280"/>
                          </a:solidFill>
                          <a:latin typeface="Montserrat" pitchFamily="34" charset="0"/>
                          <a:ea typeface="Montserrat" pitchFamily="34" charset="-122"/>
                          <a:cs typeface="Montserrat" pitchFamily="34" charset="-120"/>
                        </a:rPr>
                        <a:t>New tables or columns in Colbits' schema</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603504">
                <a:tc>
                  <a:txBody>
                    <a:bodyPr/>
                    <a:lstStyle/>
                    <a:p>
                      <a:pPr indent="0" marL="0">
                        <a:buNone/>
                      </a:pPr>
                      <a:r>
                        <a:rPr lang="en-US" sz="1250" b="1" dirty="0">
                          <a:solidFill>
                            <a:srgbClr val="000000"/>
                          </a:solidFill>
                          <a:latin typeface="Montserrat" pitchFamily="34" charset="0"/>
                          <a:ea typeface="Montserrat" pitchFamily="34" charset="-122"/>
                          <a:cs typeface="Montserrat" pitchFamily="34" charset="-120"/>
                        </a:rPr>
                        <a:t>Scope enforced once, on the server, in the data-access layer</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c>
                  <a:txBody>
                    <a:bodyPr/>
                    <a:lstStyle/>
                    <a:p>
                      <a:pPr indent="0" marL="0">
                        <a:buNone/>
                      </a:pPr>
                      <a:r>
                        <a:rPr lang="en-US" sz="1250" dirty="0">
                          <a:solidFill>
                            <a:srgbClr val="000000"/>
                          </a:solidFill>
                          <a:latin typeface="Montserrat" pitchFamily="34" charset="0"/>
                          <a:ea typeface="Montserrat" pitchFamily="34" charset="-122"/>
                          <a:cs typeface="Montserrat" pitchFamily="34" charset="-120"/>
                        </a:rPr>
                        <a:t>No leak through counts or totals (RF-SEG-08); one place to test (NF-14)</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c>
                  <a:txBody>
                    <a:bodyPr/>
                    <a:lstStyle/>
                    <a:p>
                      <a:pPr indent="0" marL="0">
                        <a:buNone/>
                      </a:pPr>
                      <a:r>
                        <a:rPr lang="en-US" sz="1250" dirty="0">
                          <a:solidFill>
                            <a:srgbClr val="6B7280"/>
                          </a:solidFill>
                          <a:latin typeface="Montserrat" pitchFamily="34" charset="0"/>
                          <a:ea typeface="Montserrat" pitchFamily="34" charset="-122"/>
                          <a:cs typeface="Montserrat" pitchFamily="34" charset="-120"/>
                        </a:rPr>
                        <a:t>Filtering per endpoint or in the frontend</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r>
              <a:tr h="603504">
                <a:tc>
                  <a:txBody>
                    <a:bodyPr/>
                    <a:lstStyle/>
                    <a:p>
                      <a:pPr indent="0" marL="0">
                        <a:buNone/>
                      </a:pPr>
                      <a:r>
                        <a:rPr lang="en-US" sz="1250" b="1" dirty="0">
                          <a:solidFill>
                            <a:srgbClr val="000000"/>
                          </a:solidFill>
                          <a:latin typeface="Montserrat" pitchFamily="34" charset="0"/>
                          <a:ea typeface="Montserrat" pitchFamily="34" charset="-122"/>
                          <a:cs typeface="Montserrat" pitchFamily="34" charset="-120"/>
                        </a:rPr>
                        <a:t>One fault rule, run by a background engine</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Montserrat" pitchFamily="34" charset="0"/>
                          <a:ea typeface="Montserrat" pitchFamily="34" charset="-122"/>
                          <a:cs typeface="Montserrat" pitchFamily="34" charset="-120"/>
                        </a:rPr>
                        <a:t>Same numbers on map, list, history, export and chat; fast queries (NF-02)</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50" dirty="0">
                          <a:solidFill>
                            <a:srgbClr val="6B7280"/>
                          </a:solidFill>
                          <a:latin typeface="Montserrat" pitchFamily="34" charset="0"/>
                          <a:ea typeface="Montserrat" pitchFamily="34" charset="-122"/>
                          <a:cs typeface="Montserrat" pitchFamily="34" charset="-120"/>
                        </a:rPr>
                        <a:t>Recomputing faults on every request</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603504">
                <a:tc>
                  <a:txBody>
                    <a:bodyPr/>
                    <a:lstStyle/>
                    <a:p>
                      <a:pPr indent="0" marL="0">
                        <a:buNone/>
                      </a:pPr>
                      <a:r>
                        <a:rPr lang="en-US" sz="1250" b="1" dirty="0">
                          <a:solidFill>
                            <a:srgbClr val="000000"/>
                          </a:solidFill>
                          <a:latin typeface="Montserrat" pitchFamily="34" charset="0"/>
                          <a:ea typeface="Montserrat" pitchFamily="34" charset="-122"/>
                          <a:cs typeface="Montserrat" pitchFamily="34" charset="-120"/>
                        </a:rPr>
                        <a:t>Live map by short polling (≤ 10 s)</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c>
                  <a:txBody>
                    <a:bodyPr/>
                    <a:lstStyle/>
                    <a:p>
                      <a:pPr indent="0" marL="0">
                        <a:buNone/>
                      </a:pPr>
                      <a:r>
                        <a:rPr lang="en-US" sz="1250" dirty="0">
                          <a:solidFill>
                            <a:srgbClr val="000000"/>
                          </a:solidFill>
                          <a:latin typeface="Montserrat" pitchFamily="34" charset="0"/>
                          <a:ea typeface="Montserrat" pitchFamily="34" charset="-122"/>
                          <a:cs typeface="Montserrat" pitchFamily="34" charset="-120"/>
                        </a:rPr>
                        <a:t>Meets the 20 s target simply; easy "last refresh" warning (RF-MAP-11)</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c>
                  <a:txBody>
                    <a:bodyPr/>
                    <a:lstStyle/>
                    <a:p>
                      <a:pPr indent="0" marL="0">
                        <a:buNone/>
                      </a:pPr>
                      <a:r>
                        <a:rPr lang="en-US" sz="1250" dirty="0">
                          <a:solidFill>
                            <a:srgbClr val="6B7280"/>
                          </a:solidFill>
                          <a:latin typeface="Montserrat" pitchFamily="34" charset="0"/>
                          <a:ea typeface="Montserrat" pitchFamily="34" charset="-122"/>
                          <a:cs typeface="Montserrat" pitchFamily="34" charset="-120"/>
                        </a:rPr>
                        <a:t>WebSockets / SSE (revisit if needed)</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4F6"/>
                    </a:solidFill>
                  </a:tcPr>
                </a:tc>
              </a:tr>
              <a:tr h="603504">
                <a:tc>
                  <a:txBody>
                    <a:bodyPr/>
                    <a:lstStyle/>
                    <a:p>
                      <a:pPr indent="0" marL="0">
                        <a:buNone/>
                      </a:pPr>
                      <a:r>
                        <a:rPr lang="en-US" sz="1250" b="1" dirty="0">
                          <a:solidFill>
                            <a:srgbClr val="000000"/>
                          </a:solidFill>
                          <a:latin typeface="Montserrat" pitchFamily="34" charset="0"/>
                          <a:ea typeface="Montserrat" pitchFamily="34" charset="-122"/>
                          <a:cs typeface="Montserrat" pitchFamily="34" charset="-120"/>
                        </a:rPr>
                        <a:t>Seeded generator + Docker + CI from day one</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Montserrat" pitchFamily="34" charset="0"/>
                          <a:ea typeface="Montserrat" pitchFamily="34" charset="-122"/>
                          <a:cs typeface="Montserrat" pitchFamily="34" charset="-120"/>
                        </a:rPr>
                        <a:t>Reproducible dev and tests without real data (NF-16, NF-18)</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50" dirty="0">
                          <a:solidFill>
                            <a:srgbClr val="6B7280"/>
                          </a:solidFill>
                          <a:latin typeface="Montserrat" pitchFamily="34" charset="0"/>
                          <a:ea typeface="Montserrat" pitchFamily="34" charset="-122"/>
                          <a:cs typeface="Montserrat" pitchFamily="34" charset="-120"/>
                        </a:rPr>
                        <a:t>Testing on the shared DB copy</a:t>
                      </a:r>
                      <a:endParaRPr lang="en-US" sz="1250" dirty="0">
                        <a:latin typeface="Montserrat" charset="0"/>
                        <a:ea typeface="Montserrat" charset="0"/>
                        <a:cs typeface="Montserrat" charset="0"/>
                      </a:endParaRPr>
                    </a:p>
                  </a:txBody>
                  <a:tcPr marL="101600" marR="101600" marT="50800" marB="508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ARCHITECTURE</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OPEN TECHNICAL CONCERNS</a:t>
            </a:r>
            <a:endParaRPr lang="en-US" sz="3600" dirty="0"/>
          </a:p>
        </p:txBody>
      </p:sp>
      <p:sp>
        <p:nvSpPr>
          <p:cNvPr id="4" name="concern-0"/>
          <p:cNvSpPr/>
          <p:nvPr/>
        </p:nvSpPr>
        <p:spPr>
          <a:xfrm>
            <a:off x="914400" y="1600200"/>
            <a:ext cx="5166360" cy="2057400"/>
          </a:xfrm>
          <a:prstGeom prst="roundRect">
            <a:avLst>
              <a:gd name="adj" fmla="val 5333"/>
            </a:avLst>
          </a:prstGeom>
          <a:solidFill>
            <a:schemeClr val="bg2"/>
          </a:solidFill>
          <a:ln/>
        </p:spPr>
      </p:sp>
      <p:sp>
        <p:nvSpPr>
          <p:cNvPr id="5" name="concern-dot-0"/>
          <p:cNvSpPr/>
          <p:nvPr/>
        </p:nvSpPr>
        <p:spPr>
          <a:xfrm>
            <a:off x="1188720" y="1874520"/>
            <a:ext cx="457200" cy="457200"/>
          </a:xfrm>
          <a:prstGeom prst="ellipse">
            <a:avLst/>
          </a:prstGeom>
          <a:solidFill>
            <a:schemeClr val="accent2"/>
          </a:solidFill>
          <a:ln/>
        </p:spPr>
      </p:sp>
      <p:sp>
        <p:nvSpPr>
          <p:cNvPr id="6" name="Text 4"/>
          <p:cNvSpPr txBox="1"/>
          <p:nvPr/>
        </p:nvSpPr>
        <p:spPr>
          <a:xfrm>
            <a:off x="118872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7" name="Text 5"/>
          <p:cNvSpPr txBox="1"/>
          <p:nvPr/>
        </p:nvSpPr>
        <p:spPr>
          <a:xfrm>
            <a:off x="1828800" y="1856232"/>
            <a:ext cx="3977640" cy="502920"/>
          </a:xfrm>
          <a:prstGeom prst="rect">
            <a:avLst/>
          </a:prstGeom>
          <a:noFill/>
          <a:ln/>
        </p:spPr>
        <p:txBody>
          <a:bodyPr wrap="square" lIns="0" tIns="0" rIns="0" bIns="0" rtlCol="0" anchor="ctr"/>
          <a:lstStyle/>
          <a:p>
            <a:pPr indent="0" marL="0">
              <a:buNone/>
            </a:pPr>
            <a:r>
              <a:rPr lang="en-US" sz="1600" b="1" dirty="0">
                <a:solidFill>
                  <a:schemeClr val="tx1"/>
                </a:solidFill>
              </a:rPr>
              <a:t>Performance on a database we cannot change</a:t>
            </a:r>
            <a:endParaRPr lang="en-US" sz="1600" dirty="0"/>
          </a:p>
        </p:txBody>
      </p:sp>
      <p:sp>
        <p:nvSpPr>
          <p:cNvPr id="8" name="Text 6"/>
          <p:cNvSpPr txBox="1"/>
          <p:nvPr/>
        </p:nvSpPr>
        <p:spPr>
          <a:xfrm>
            <a:off x="1828800" y="2468880"/>
            <a:ext cx="3977640" cy="1005840"/>
          </a:xfrm>
          <a:prstGeom prst="rect">
            <a:avLst/>
          </a:prstGeom>
          <a:noFill/>
          <a:ln/>
        </p:spPr>
        <p:txBody>
          <a:bodyPr wrap="square" lIns="0" tIns="0" rIns="0" bIns="0" rtlCol="0" anchor="t"/>
          <a:lstStyle/>
          <a:p>
            <a:pPr indent="0" marL="0">
              <a:buNone/>
            </a:pPr>
            <a:r>
              <a:rPr lang="en-US" sz="1300" dirty="0">
                <a:solidFill>
                  <a:schemeClr val="tx1"/>
                </a:solidFill>
              </a:rPr>
              <a:t>No new indexes or aggregates in Colbits' DB → pre-aggregate in our schema; load-test NF-02 early</a:t>
            </a:r>
            <a:endParaRPr lang="en-US" sz="1300" dirty="0"/>
          </a:p>
        </p:txBody>
      </p:sp>
      <p:sp>
        <p:nvSpPr>
          <p:cNvPr id="9" name="concern-1"/>
          <p:cNvSpPr/>
          <p:nvPr/>
        </p:nvSpPr>
        <p:spPr>
          <a:xfrm>
            <a:off x="6355080" y="1600200"/>
            <a:ext cx="5166360" cy="2057400"/>
          </a:xfrm>
          <a:prstGeom prst="roundRect">
            <a:avLst>
              <a:gd name="adj" fmla="val 5333"/>
            </a:avLst>
          </a:prstGeom>
          <a:solidFill>
            <a:schemeClr val="bg2"/>
          </a:solidFill>
          <a:ln/>
        </p:spPr>
      </p:sp>
      <p:sp>
        <p:nvSpPr>
          <p:cNvPr id="10" name="concern-dot-1"/>
          <p:cNvSpPr/>
          <p:nvPr/>
        </p:nvSpPr>
        <p:spPr>
          <a:xfrm>
            <a:off x="6629400" y="1874520"/>
            <a:ext cx="457200" cy="457200"/>
          </a:xfrm>
          <a:prstGeom prst="ellipse">
            <a:avLst/>
          </a:prstGeom>
          <a:solidFill>
            <a:schemeClr val="accent2"/>
          </a:solidFill>
          <a:ln/>
        </p:spPr>
      </p:sp>
      <p:sp>
        <p:nvSpPr>
          <p:cNvPr id="11" name="Text 9"/>
          <p:cNvSpPr txBox="1"/>
          <p:nvPr/>
        </p:nvSpPr>
        <p:spPr>
          <a:xfrm>
            <a:off x="66294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2" name="Text 10"/>
          <p:cNvSpPr txBox="1"/>
          <p:nvPr/>
        </p:nvSpPr>
        <p:spPr>
          <a:xfrm>
            <a:off x="7269480" y="1856232"/>
            <a:ext cx="3977640" cy="502920"/>
          </a:xfrm>
          <a:prstGeom prst="rect">
            <a:avLst/>
          </a:prstGeom>
          <a:noFill/>
          <a:ln/>
        </p:spPr>
        <p:txBody>
          <a:bodyPr wrap="square" lIns="0" tIns="0" rIns="0" bIns="0" rtlCol="0" anchor="ctr"/>
          <a:lstStyle/>
          <a:p>
            <a:pPr indent="0" marL="0">
              <a:buNone/>
            </a:pPr>
            <a:r>
              <a:rPr lang="en-US" sz="1600" b="1" dirty="0">
                <a:solidFill>
                  <a:schemeClr val="tx1"/>
                </a:solidFill>
              </a:rPr>
              <a:t>Real-data quirks</a:t>
            </a:r>
            <a:endParaRPr lang="en-US" sz="1600" dirty="0"/>
          </a:p>
        </p:txBody>
      </p:sp>
      <p:sp>
        <p:nvSpPr>
          <p:cNvPr id="13" name="Text 11"/>
          <p:cNvSpPr txBox="1"/>
          <p:nvPr/>
        </p:nvSpPr>
        <p:spPr>
          <a:xfrm>
            <a:off x="7269480" y="2468880"/>
            <a:ext cx="3977640" cy="1005840"/>
          </a:xfrm>
          <a:prstGeom prst="rect">
            <a:avLst/>
          </a:prstGeom>
          <a:noFill/>
          <a:ln/>
        </p:spPr>
        <p:txBody>
          <a:bodyPr wrap="square" lIns="0" tIns="0" rIns="0" bIns="0" rtlCol="0" anchor="t"/>
          <a:lstStyle/>
          <a:p>
            <a:pPr indent="0" marL="0">
              <a:buNone/>
            </a:pPr>
            <a:r>
              <a:rPr lang="en-US" sz="1300" dirty="0">
                <a:solidFill>
                  <a:schemeClr val="tx1"/>
                </a:solidFill>
              </a:rPr>
              <a:t>SMAC readings split over 3 tables (time-tolerance join); legacy repetition fuse IDs the generator does not produce</a:t>
            </a:r>
            <a:endParaRPr lang="en-US" sz="1300" dirty="0"/>
          </a:p>
        </p:txBody>
      </p:sp>
      <p:sp>
        <p:nvSpPr>
          <p:cNvPr id="14" name="concern-2"/>
          <p:cNvSpPr/>
          <p:nvPr/>
        </p:nvSpPr>
        <p:spPr>
          <a:xfrm>
            <a:off x="914400" y="3931920"/>
            <a:ext cx="5166360" cy="2057400"/>
          </a:xfrm>
          <a:prstGeom prst="roundRect">
            <a:avLst>
              <a:gd name="adj" fmla="val 5333"/>
            </a:avLst>
          </a:prstGeom>
          <a:solidFill>
            <a:schemeClr val="bg2"/>
          </a:solidFill>
          <a:ln/>
        </p:spPr>
      </p:sp>
      <p:sp>
        <p:nvSpPr>
          <p:cNvPr id="15" name="concern-dot-2"/>
          <p:cNvSpPr/>
          <p:nvPr/>
        </p:nvSpPr>
        <p:spPr>
          <a:xfrm>
            <a:off x="1188720" y="4206240"/>
            <a:ext cx="457200" cy="457200"/>
          </a:xfrm>
          <a:prstGeom prst="ellipse">
            <a:avLst/>
          </a:prstGeom>
          <a:solidFill>
            <a:schemeClr val="accent2"/>
          </a:solidFill>
          <a:ln/>
        </p:spPr>
      </p:sp>
      <p:sp>
        <p:nvSpPr>
          <p:cNvPr id="16" name="Text 14"/>
          <p:cNvSpPr txBox="1"/>
          <p:nvPr/>
        </p:nvSpPr>
        <p:spPr>
          <a:xfrm>
            <a:off x="1188720" y="42062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7" name="Text 15"/>
          <p:cNvSpPr txBox="1"/>
          <p:nvPr/>
        </p:nvSpPr>
        <p:spPr>
          <a:xfrm>
            <a:off x="1828800" y="4187952"/>
            <a:ext cx="3977640" cy="502920"/>
          </a:xfrm>
          <a:prstGeom prst="rect">
            <a:avLst/>
          </a:prstGeom>
          <a:noFill/>
          <a:ln/>
        </p:spPr>
        <p:txBody>
          <a:bodyPr wrap="square" lIns="0" tIns="0" rIns="0" bIns="0" rtlCol="0" anchor="ctr"/>
          <a:lstStyle/>
          <a:p>
            <a:pPr indent="0" marL="0">
              <a:buNone/>
            </a:pPr>
            <a:r>
              <a:rPr lang="en-US" sz="1600" b="1" dirty="0">
                <a:solidFill>
                  <a:schemeClr val="tx1"/>
                </a:solidFill>
              </a:rPr>
              <a:t>End-to-end 20 s latency</a:t>
            </a:r>
            <a:endParaRPr lang="en-US" sz="1600" dirty="0"/>
          </a:p>
        </p:txBody>
      </p:sp>
      <p:sp>
        <p:nvSpPr>
          <p:cNvPr id="18" name="Text 16"/>
          <p:cNvSpPr txBox="1"/>
          <p:nvPr/>
        </p:nvSpPr>
        <p:spPr>
          <a:xfrm>
            <a:off x="1828800" y="4800600"/>
            <a:ext cx="3977640" cy="1005840"/>
          </a:xfrm>
          <a:prstGeom prst="rect">
            <a:avLst/>
          </a:prstGeom>
          <a:noFill/>
          <a:ln/>
        </p:spPr>
        <p:txBody>
          <a:bodyPr wrap="square" lIns="0" tIns="0" rIns="0" bIns="0" rtlCol="0" anchor="t"/>
          <a:lstStyle/>
          <a:p>
            <a:pPr indent="0" marL="0">
              <a:buNone/>
            </a:pPr>
            <a:r>
              <a:rPr lang="en-US" sz="1300" dirty="0">
                <a:solidFill>
                  <a:schemeClr val="tx1"/>
                </a:solidFill>
              </a:rPr>
              <a:t>Poll interval + engine cycle + DB time must stay under 20 s → measured with the NF-01 test</a:t>
            </a:r>
            <a:endParaRPr lang="en-US" sz="1300" dirty="0"/>
          </a:p>
        </p:txBody>
      </p:sp>
      <p:sp>
        <p:nvSpPr>
          <p:cNvPr id="19" name="concern-3"/>
          <p:cNvSpPr/>
          <p:nvPr/>
        </p:nvSpPr>
        <p:spPr>
          <a:xfrm>
            <a:off x="6355080" y="3931920"/>
            <a:ext cx="5166360" cy="2057400"/>
          </a:xfrm>
          <a:prstGeom prst="roundRect">
            <a:avLst>
              <a:gd name="adj" fmla="val 5333"/>
            </a:avLst>
          </a:prstGeom>
          <a:solidFill>
            <a:schemeClr val="bg2"/>
          </a:solidFill>
          <a:ln/>
        </p:spPr>
      </p:sp>
      <p:sp>
        <p:nvSpPr>
          <p:cNvPr id="20" name="concern-dot-3"/>
          <p:cNvSpPr/>
          <p:nvPr/>
        </p:nvSpPr>
        <p:spPr>
          <a:xfrm>
            <a:off x="6629400" y="4206240"/>
            <a:ext cx="457200" cy="457200"/>
          </a:xfrm>
          <a:prstGeom prst="ellipse">
            <a:avLst/>
          </a:prstGeom>
          <a:solidFill>
            <a:schemeClr val="accent2"/>
          </a:solidFill>
          <a:ln/>
        </p:spPr>
      </p:sp>
      <p:sp>
        <p:nvSpPr>
          <p:cNvPr id="21" name="Text 19"/>
          <p:cNvSpPr txBox="1"/>
          <p:nvPr/>
        </p:nvSpPr>
        <p:spPr>
          <a:xfrm>
            <a:off x="6629400" y="42062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22" name="Text 20"/>
          <p:cNvSpPr txBox="1"/>
          <p:nvPr/>
        </p:nvSpPr>
        <p:spPr>
          <a:xfrm>
            <a:off x="7269480" y="4187952"/>
            <a:ext cx="3977640" cy="502920"/>
          </a:xfrm>
          <a:prstGeom prst="rect">
            <a:avLst/>
          </a:prstGeom>
          <a:noFill/>
          <a:ln/>
        </p:spPr>
        <p:txBody>
          <a:bodyPr wrap="square" lIns="0" tIns="0" rIns="0" bIns="0" rtlCol="0" anchor="ctr"/>
          <a:lstStyle/>
          <a:p>
            <a:pPr indent="0" marL="0">
              <a:buNone/>
            </a:pPr>
            <a:r>
              <a:rPr lang="en-US" sz="1600" b="1" dirty="0">
                <a:solidFill>
                  <a:schemeClr val="tx1"/>
                </a:solidFill>
              </a:rPr>
              <a:t>Open points with Colbits</a:t>
            </a:r>
            <a:endParaRPr lang="en-US" sz="1600" dirty="0"/>
          </a:p>
        </p:txBody>
      </p:sp>
      <p:sp>
        <p:nvSpPr>
          <p:cNvPr id="23" name="Text 21"/>
          <p:cNvSpPr txBox="1"/>
          <p:nvPr/>
        </p:nvSpPr>
        <p:spPr>
          <a:xfrm>
            <a:off x="7269480" y="4800600"/>
            <a:ext cx="3977640" cy="1005840"/>
          </a:xfrm>
          <a:prstGeom prst="rect">
            <a:avLst/>
          </a:prstGeom>
          <a:noFill/>
          <a:ln/>
        </p:spPr>
        <p:txBody>
          <a:bodyPr wrap="square" lIns="0" tIns="0" rIns="0" bIns="0" rtlCol="0" anchor="t"/>
          <a:lstStyle/>
          <a:p>
            <a:pPr indent="0" marL="0">
              <a:buNone/>
            </a:pPr>
            <a:r>
              <a:rPr lang="en-US" sz="1300" dirty="0">
                <a:solidFill>
                  <a:schemeClr val="tx1"/>
                </a:solidFill>
              </a:rPr>
              <a:t>Amber vs. yellow and the five legend states in the mockups; DB copy with anonymised coordinates</a:t>
            </a:r>
            <a:endParaRPr lang="en-US" sz="13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320040" y="201168"/>
            <a:ext cx="5486400" cy="320040"/>
          </a:xfrm>
          <a:prstGeom prst="rect">
            <a:avLst/>
          </a:prstGeom>
          <a:noFill/>
          <a:ln/>
        </p:spPr>
        <p:txBody>
          <a:bodyPr wrap="square" lIns="0" tIns="0" rIns="0" bIns="0" rtlCol="0"/>
          <a:lstStyle/>
          <a:p>
            <a:pPr indent="0" marL="0">
              <a:buNone/>
            </a:pPr>
            <a:r>
              <a:rPr lang="en-US" sz="1200" dirty="0">
                <a:solidFill>
                  <a:schemeClr val="tx1"/>
                </a:solidFill>
              </a:rPr>
              <a:t>ARCHITECTURE</a:t>
            </a:r>
            <a:endParaRPr lang="en-US" sz="1200" dirty="0"/>
          </a:p>
        </p:txBody>
      </p:sp>
      <p:sp>
        <p:nvSpPr>
          <p:cNvPr id="3" name="Text 0"/>
          <p:cNvSpPr/>
          <p:nvPr>
            <p:ph idx="102" type="title" hasCustomPrompt="1"/>
          </p:nvPr>
        </p:nvSpPr>
        <p:spPr>
          <a:xfrm>
            <a:off x="914400" y="621792"/>
            <a:ext cx="9235440" cy="777240"/>
          </a:xfrm>
          <a:prstGeom prst="rect">
            <a:avLst/>
          </a:prstGeom>
          <a:noFill/>
          <a:ln/>
        </p:spPr>
        <p:txBody>
          <a:bodyPr wrap="square" lIns="0" tIns="0" rIns="0" bIns="0" rtlCol="0" anchor="ctr"/>
          <a:lstStyle/>
          <a:p>
            <a:pPr algn="l" indent="0" marL="0">
              <a:buNone/>
            </a:pPr>
            <a:r>
              <a:rPr lang="en-US" sz="3600" b="1" dirty="0">
                <a:solidFill>
                  <a:schemeClr val="tx1"/>
                </a:solidFill>
              </a:rPr>
              <a:t>TECHNOLOGIES BY COMPONENT</a:t>
            </a:r>
            <a:endParaRPr lang="en-US" sz="3600" dirty="0"/>
          </a:p>
        </p:txBody>
      </p:sp>
      <p:sp>
        <p:nvSpPr>
          <p:cNvPr id="4" name="tech-col-0"/>
          <p:cNvSpPr/>
          <p:nvPr/>
        </p:nvSpPr>
        <p:spPr>
          <a:xfrm>
            <a:off x="914400" y="1554480"/>
            <a:ext cx="3429000" cy="4709160"/>
          </a:xfrm>
          <a:prstGeom prst="roundRect">
            <a:avLst>
              <a:gd name="adj" fmla="val 3200"/>
            </a:avLst>
          </a:prstGeom>
          <a:solidFill>
            <a:schemeClr val="bg2"/>
          </a:solidFill>
          <a:ln/>
        </p:spPr>
      </p:sp>
      <p:sp>
        <p:nvSpPr>
          <p:cNvPr id="5" name="tech-head-0"/>
          <p:cNvSpPr/>
          <p:nvPr/>
        </p:nvSpPr>
        <p:spPr>
          <a:xfrm>
            <a:off x="1097280" y="1737360"/>
            <a:ext cx="3063240" cy="457200"/>
          </a:xfrm>
          <a:prstGeom prst="roundRect">
            <a:avLst>
              <a:gd name="adj" fmla="val 16000"/>
            </a:avLst>
          </a:prstGeom>
          <a:solidFill>
            <a:srgbClr val="0070C0"/>
          </a:solidFill>
          <a:ln/>
        </p:spPr>
      </p:sp>
      <p:sp>
        <p:nvSpPr>
          <p:cNvPr id="6" name="Text 4"/>
          <p:cNvSpPr txBox="1"/>
          <p:nvPr/>
        </p:nvSpPr>
        <p:spPr>
          <a:xfrm>
            <a:off x="1097280" y="1737360"/>
            <a:ext cx="3063240" cy="457200"/>
          </a:xfrm>
          <a:prstGeom prst="rect">
            <a:avLst/>
          </a:prstGeom>
          <a:noFill/>
          <a:ln/>
        </p:spPr>
        <p:txBody>
          <a:bodyPr wrap="square" lIns="0" tIns="0" rIns="0" bIns="0" rtlCol="0" anchor="ctr"/>
          <a:lstStyle/>
          <a:p>
            <a:pPr algn="ctr" indent="0" marL="0">
              <a:buNone/>
            </a:pPr>
            <a:r>
              <a:rPr lang="en-US" sz="1400" b="1" dirty="0">
                <a:solidFill>
                  <a:srgbClr val="FFFFFF"/>
                </a:solidFill>
              </a:rPr>
              <a:t>Web frontend</a:t>
            </a:r>
            <a:endParaRPr lang="en-US" sz="1400" dirty="0"/>
          </a:p>
        </p:txBody>
      </p:sp>
      <p:sp>
        <p:nvSpPr>
          <p:cNvPr id="7" name="Text 5"/>
          <p:cNvSpPr txBox="1"/>
          <p:nvPr/>
        </p:nvSpPr>
        <p:spPr>
          <a:xfrm>
            <a:off x="1143000" y="2377440"/>
            <a:ext cx="2971800" cy="713232"/>
          </a:xfrm>
          <a:prstGeom prst="rect">
            <a:avLst/>
          </a:prstGeom>
          <a:noFill/>
          <a:ln/>
        </p:spPr>
        <p:txBody>
          <a:bodyPr wrap="square" lIns="0" tIns="0" rIns="0" bIns="0" rtlCol="0" anchor="t"/>
          <a:lstStyle/>
          <a:p>
            <a:pPr indent="0" marL="0">
              <a:buNone/>
            </a:pPr>
            <a:r>
              <a:rPr lang="en-US" sz="1100" b="1" dirty="0">
                <a:solidFill>
                  <a:srgbClr val="6B7280"/>
                </a:solidFill>
              </a:rPr>
              <a:t>Web frontend</a:t>
            </a:r>
            <a:endParaRPr lang="en-US" sz="1100" dirty="0"/>
          </a:p>
          <a:p>
            <a:pPr indent="0" marL="0">
              <a:buNone/>
            </a:pPr>
            <a:r>
              <a:rPr lang="en-US" sz="1300" dirty="0">
                <a:solidFill>
                  <a:srgbClr val="000000"/>
                </a:solidFill>
              </a:rPr>
              <a:t>React + TypeScript (Vite), Atomic Design</a:t>
            </a:r>
            <a:endParaRPr lang="en-US" sz="1100" dirty="0"/>
          </a:p>
        </p:txBody>
      </p:sp>
      <p:sp>
        <p:nvSpPr>
          <p:cNvPr id="8" name="Text 6"/>
          <p:cNvSpPr txBox="1"/>
          <p:nvPr/>
        </p:nvSpPr>
        <p:spPr>
          <a:xfrm>
            <a:off x="1143000" y="3145536"/>
            <a:ext cx="2971800" cy="713232"/>
          </a:xfrm>
          <a:prstGeom prst="rect">
            <a:avLst/>
          </a:prstGeom>
          <a:noFill/>
          <a:ln/>
        </p:spPr>
        <p:txBody>
          <a:bodyPr wrap="square" lIns="0" tIns="0" rIns="0" bIns="0" rtlCol="0" anchor="t"/>
          <a:lstStyle/>
          <a:p>
            <a:pPr indent="0" marL="0">
              <a:buNone/>
            </a:pPr>
            <a:r>
              <a:rPr lang="en-US" sz="1100" b="1" dirty="0">
                <a:solidFill>
                  <a:srgbClr val="6B7280"/>
                </a:solidFill>
              </a:rPr>
              <a:t>Map</a:t>
            </a:r>
            <a:endParaRPr lang="en-US" sz="1100" dirty="0"/>
          </a:p>
          <a:p>
            <a:pPr indent="0" marL="0">
              <a:buNone/>
            </a:pPr>
            <a:r>
              <a:rPr lang="en-US" sz="1300" dirty="0">
                <a:solidFill>
                  <a:srgbClr val="000000"/>
                </a:solidFill>
              </a:rPr>
              <a:t>Leaflet + react-leaflet + markercluster</a:t>
            </a:r>
            <a:endParaRPr lang="en-US" sz="1100" dirty="0"/>
          </a:p>
        </p:txBody>
      </p:sp>
      <p:sp>
        <p:nvSpPr>
          <p:cNvPr id="9" name="Text 7"/>
          <p:cNvSpPr txBox="1"/>
          <p:nvPr/>
        </p:nvSpPr>
        <p:spPr>
          <a:xfrm>
            <a:off x="1143000" y="3913632"/>
            <a:ext cx="2971800" cy="713232"/>
          </a:xfrm>
          <a:prstGeom prst="rect">
            <a:avLst/>
          </a:prstGeom>
          <a:noFill/>
          <a:ln/>
        </p:spPr>
        <p:txBody>
          <a:bodyPr wrap="square" lIns="0" tIns="0" rIns="0" bIns="0" rtlCol="0" anchor="t"/>
          <a:lstStyle/>
          <a:p>
            <a:pPr indent="0" marL="0">
              <a:buNone/>
            </a:pPr>
            <a:r>
              <a:rPr lang="en-US" sz="1100" b="1" dirty="0">
                <a:solidFill>
                  <a:srgbClr val="6B7280"/>
                </a:solidFill>
              </a:rPr>
              <a:t>Charts</a:t>
            </a:r>
            <a:endParaRPr lang="en-US" sz="1100" dirty="0"/>
          </a:p>
          <a:p>
            <a:pPr indent="0" marL="0">
              <a:buNone/>
            </a:pPr>
            <a:r>
              <a:rPr lang="en-US" sz="1300" dirty="0">
                <a:solidFill>
                  <a:srgbClr val="000000"/>
                </a:solidFill>
              </a:rPr>
              <a:t>Recharts</a:t>
            </a:r>
            <a:endParaRPr lang="en-US" sz="1100" dirty="0"/>
          </a:p>
        </p:txBody>
      </p:sp>
      <p:sp>
        <p:nvSpPr>
          <p:cNvPr id="10" name="Text 8"/>
          <p:cNvSpPr txBox="1"/>
          <p:nvPr/>
        </p:nvSpPr>
        <p:spPr>
          <a:xfrm>
            <a:off x="1143000" y="4681728"/>
            <a:ext cx="2971800" cy="713232"/>
          </a:xfrm>
          <a:prstGeom prst="rect">
            <a:avLst/>
          </a:prstGeom>
          <a:noFill/>
          <a:ln/>
        </p:spPr>
        <p:txBody>
          <a:bodyPr wrap="square" lIns="0" tIns="0" rIns="0" bIns="0" rtlCol="0" anchor="t"/>
          <a:lstStyle/>
          <a:p>
            <a:pPr indent="0" marL="0">
              <a:buNone/>
            </a:pPr>
            <a:r>
              <a:rPr lang="en-US" sz="1100" b="1" dirty="0">
                <a:solidFill>
                  <a:srgbClr val="6B7280"/>
                </a:solidFill>
              </a:rPr>
              <a:t>Live refresh</a:t>
            </a:r>
            <a:endParaRPr lang="en-US" sz="1100" dirty="0"/>
          </a:p>
          <a:p>
            <a:pPr indent="0" marL="0">
              <a:buNone/>
            </a:pPr>
            <a:r>
              <a:rPr lang="en-US" sz="1300" dirty="0">
                <a:solidFill>
                  <a:srgbClr val="000000"/>
                </a:solidFill>
              </a:rPr>
              <a:t>TanStack Query, 10 s polling</a:t>
            </a:r>
            <a:endParaRPr lang="en-US" sz="1100" dirty="0"/>
          </a:p>
        </p:txBody>
      </p:sp>
      <p:sp>
        <p:nvSpPr>
          <p:cNvPr id="11" name="tech-col-1"/>
          <p:cNvSpPr/>
          <p:nvPr/>
        </p:nvSpPr>
        <p:spPr>
          <a:xfrm>
            <a:off x="4617720" y="1554480"/>
            <a:ext cx="3429000" cy="4709160"/>
          </a:xfrm>
          <a:prstGeom prst="roundRect">
            <a:avLst>
              <a:gd name="adj" fmla="val 3200"/>
            </a:avLst>
          </a:prstGeom>
          <a:solidFill>
            <a:schemeClr val="bg2"/>
          </a:solidFill>
          <a:ln/>
        </p:spPr>
      </p:sp>
      <p:sp>
        <p:nvSpPr>
          <p:cNvPr id="12" name="tech-head-1"/>
          <p:cNvSpPr/>
          <p:nvPr/>
        </p:nvSpPr>
        <p:spPr>
          <a:xfrm>
            <a:off x="4800600" y="1737360"/>
            <a:ext cx="3063240" cy="457200"/>
          </a:xfrm>
          <a:prstGeom prst="roundRect">
            <a:avLst>
              <a:gd name="adj" fmla="val 16000"/>
            </a:avLst>
          </a:prstGeom>
          <a:solidFill>
            <a:srgbClr val="1F8A5B"/>
          </a:solidFill>
          <a:ln/>
        </p:spPr>
      </p:sp>
      <p:sp>
        <p:nvSpPr>
          <p:cNvPr id="13" name="Text 11"/>
          <p:cNvSpPr txBox="1"/>
          <p:nvPr/>
        </p:nvSpPr>
        <p:spPr>
          <a:xfrm>
            <a:off x="4800600" y="1737360"/>
            <a:ext cx="3063240" cy="457200"/>
          </a:xfrm>
          <a:prstGeom prst="rect">
            <a:avLst/>
          </a:prstGeom>
          <a:noFill/>
          <a:ln/>
        </p:spPr>
        <p:txBody>
          <a:bodyPr wrap="square" lIns="0" tIns="0" rIns="0" bIns="0" rtlCol="0" anchor="ctr"/>
          <a:lstStyle/>
          <a:p>
            <a:pPr algn="ctr" indent="0" marL="0">
              <a:buNone/>
            </a:pPr>
            <a:r>
              <a:rPr lang="en-US" sz="1400" b="1" dirty="0">
                <a:solidFill>
                  <a:srgbClr val="FFFFFF"/>
                </a:solidFill>
              </a:rPr>
              <a:t>Backend REST API</a:t>
            </a:r>
            <a:endParaRPr lang="en-US" sz="1400" dirty="0"/>
          </a:p>
        </p:txBody>
      </p:sp>
      <p:sp>
        <p:nvSpPr>
          <p:cNvPr id="14" name="Text 12"/>
          <p:cNvSpPr txBox="1"/>
          <p:nvPr/>
        </p:nvSpPr>
        <p:spPr>
          <a:xfrm>
            <a:off x="4846320" y="2377440"/>
            <a:ext cx="2971800" cy="713232"/>
          </a:xfrm>
          <a:prstGeom prst="rect">
            <a:avLst/>
          </a:prstGeom>
          <a:noFill/>
          <a:ln/>
        </p:spPr>
        <p:txBody>
          <a:bodyPr wrap="square" lIns="0" tIns="0" rIns="0" bIns="0" rtlCol="0" anchor="t"/>
          <a:lstStyle/>
          <a:p>
            <a:pPr indent="0" marL="0">
              <a:buNone/>
            </a:pPr>
            <a:r>
              <a:rPr lang="en-US" sz="1100" b="1" dirty="0">
                <a:solidFill>
                  <a:srgbClr val="6B7280"/>
                </a:solidFill>
              </a:rPr>
              <a:t>Feature components</a:t>
            </a:r>
            <a:endParaRPr lang="en-US" sz="1100" dirty="0"/>
          </a:p>
          <a:p>
            <a:pPr indent="0" marL="0">
              <a:buNone/>
            </a:pPr>
            <a:r>
              <a:rPr lang="en-US" sz="1300" dirty="0">
                <a:solidFill>
                  <a:srgbClr val="000000"/>
                </a:solidFill>
              </a:rPr>
              <a:t>Python 3.12 + FastAPI + Pydantic</a:t>
            </a:r>
            <a:endParaRPr lang="en-US" sz="1100" dirty="0"/>
          </a:p>
        </p:txBody>
      </p:sp>
      <p:sp>
        <p:nvSpPr>
          <p:cNvPr id="15" name="Text 13"/>
          <p:cNvSpPr txBox="1"/>
          <p:nvPr/>
        </p:nvSpPr>
        <p:spPr>
          <a:xfrm>
            <a:off x="4846320" y="3145536"/>
            <a:ext cx="2971800" cy="713232"/>
          </a:xfrm>
          <a:prstGeom prst="rect">
            <a:avLst/>
          </a:prstGeom>
          <a:noFill/>
          <a:ln/>
        </p:spPr>
        <p:txBody>
          <a:bodyPr wrap="square" lIns="0" tIns="0" rIns="0" bIns="0" rtlCol="0" anchor="t"/>
          <a:lstStyle/>
          <a:p>
            <a:pPr indent="0" marL="0">
              <a:buNone/>
            </a:pPr>
            <a:r>
              <a:rPr lang="en-US" sz="1100" b="1" dirty="0">
                <a:solidFill>
                  <a:srgbClr val="6B7280"/>
                </a:solidFill>
              </a:rPr>
              <a:t>Authentication</a:t>
            </a:r>
            <a:endParaRPr lang="en-US" sz="1100" dirty="0"/>
          </a:p>
          <a:p>
            <a:pPr indent="0" marL="0">
              <a:buNone/>
            </a:pPr>
            <a:r>
              <a:rPr lang="en-US" sz="1300" dirty="0">
                <a:solidFill>
                  <a:srgbClr val="000000"/>
                </a:solidFill>
              </a:rPr>
              <a:t>JWT + Argon2</a:t>
            </a:r>
            <a:endParaRPr lang="en-US" sz="1100" dirty="0"/>
          </a:p>
        </p:txBody>
      </p:sp>
      <p:sp>
        <p:nvSpPr>
          <p:cNvPr id="16" name="Text 14"/>
          <p:cNvSpPr txBox="1"/>
          <p:nvPr/>
        </p:nvSpPr>
        <p:spPr>
          <a:xfrm>
            <a:off x="4846320" y="3913632"/>
            <a:ext cx="2971800" cy="713232"/>
          </a:xfrm>
          <a:prstGeom prst="rect">
            <a:avLst/>
          </a:prstGeom>
          <a:noFill/>
          <a:ln/>
        </p:spPr>
        <p:txBody>
          <a:bodyPr wrap="square" lIns="0" tIns="0" rIns="0" bIns="0" rtlCol="0" anchor="t"/>
          <a:lstStyle/>
          <a:p>
            <a:pPr indent="0" marL="0">
              <a:buNone/>
            </a:pPr>
            <a:r>
              <a:rPr lang="en-US" sz="1100" b="1" dirty="0">
                <a:solidFill>
                  <a:srgbClr val="6B7280"/>
                </a:solidFill>
              </a:rPr>
              <a:t>Scope &amp; data access</a:t>
            </a:r>
            <a:endParaRPr lang="en-US" sz="1100" dirty="0"/>
          </a:p>
          <a:p>
            <a:pPr indent="0" marL="0">
              <a:buNone/>
            </a:pPr>
            <a:r>
              <a:rPr lang="en-US" sz="1300" dirty="0">
                <a:solidFill>
                  <a:srgbClr val="000000"/>
                </a:solidFill>
              </a:rPr>
              <a:t>SQLAlchemy 2 + psycopg, SELECT-only role</a:t>
            </a:r>
            <a:endParaRPr lang="en-US" sz="1100" dirty="0"/>
          </a:p>
        </p:txBody>
      </p:sp>
      <p:sp>
        <p:nvSpPr>
          <p:cNvPr id="17" name="Text 15"/>
          <p:cNvSpPr txBox="1"/>
          <p:nvPr/>
        </p:nvSpPr>
        <p:spPr>
          <a:xfrm>
            <a:off x="4846320" y="4681728"/>
            <a:ext cx="2971800" cy="713232"/>
          </a:xfrm>
          <a:prstGeom prst="rect">
            <a:avLst/>
          </a:prstGeom>
          <a:noFill/>
          <a:ln/>
        </p:spPr>
        <p:txBody>
          <a:bodyPr wrap="square" lIns="0" tIns="0" rIns="0" bIns="0" rtlCol="0" anchor="t"/>
          <a:lstStyle/>
          <a:p>
            <a:pPr indent="0" marL="0">
              <a:buNone/>
            </a:pPr>
            <a:r>
              <a:rPr lang="en-US" sz="1100" b="1" dirty="0">
                <a:solidFill>
                  <a:srgbClr val="6B7280"/>
                </a:solidFill>
              </a:rPr>
              <a:t>Faults &amp; alarms engine</a:t>
            </a:r>
            <a:endParaRPr lang="en-US" sz="1100" dirty="0"/>
          </a:p>
          <a:p>
            <a:pPr indent="0" marL="0">
              <a:buNone/>
            </a:pPr>
            <a:r>
              <a:rPr lang="en-US" sz="1300" dirty="0">
                <a:solidFill>
                  <a:srgbClr val="000000"/>
                </a:solidFill>
              </a:rPr>
              <a:t>APScheduler background job</a:t>
            </a:r>
            <a:endParaRPr lang="en-US" sz="1100" dirty="0"/>
          </a:p>
        </p:txBody>
      </p:sp>
      <p:sp>
        <p:nvSpPr>
          <p:cNvPr id="18" name="Text 16"/>
          <p:cNvSpPr txBox="1"/>
          <p:nvPr/>
        </p:nvSpPr>
        <p:spPr>
          <a:xfrm>
            <a:off x="4846320" y="5449824"/>
            <a:ext cx="2971800" cy="713232"/>
          </a:xfrm>
          <a:prstGeom prst="rect">
            <a:avLst/>
          </a:prstGeom>
          <a:noFill/>
          <a:ln/>
        </p:spPr>
        <p:txBody>
          <a:bodyPr wrap="square" lIns="0" tIns="0" rIns="0" bIns="0" rtlCol="0" anchor="t"/>
          <a:lstStyle/>
          <a:p>
            <a:pPr indent="0" marL="0">
              <a:buNone/>
            </a:pPr>
            <a:r>
              <a:rPr lang="en-US" sz="1100" b="1" dirty="0">
                <a:solidFill>
                  <a:srgbClr val="6B7280"/>
                </a:solidFill>
              </a:rPr>
              <a:t>Export &amp; reports</a:t>
            </a:r>
            <a:endParaRPr lang="en-US" sz="1100" dirty="0"/>
          </a:p>
          <a:p>
            <a:pPr indent="0" marL="0">
              <a:buNone/>
            </a:pPr>
            <a:r>
              <a:rPr lang="en-US" sz="1300" dirty="0">
                <a:solidFill>
                  <a:srgbClr val="000000"/>
                </a:solidFill>
              </a:rPr>
              <a:t>openpyxl · csv · WeasyPrint</a:t>
            </a:r>
            <a:endParaRPr lang="en-US" sz="1100" dirty="0"/>
          </a:p>
        </p:txBody>
      </p:sp>
      <p:sp>
        <p:nvSpPr>
          <p:cNvPr id="19" name="tech-col-2"/>
          <p:cNvSpPr/>
          <p:nvPr/>
        </p:nvSpPr>
        <p:spPr>
          <a:xfrm>
            <a:off x="8321040" y="1554480"/>
            <a:ext cx="3429000" cy="4709160"/>
          </a:xfrm>
          <a:prstGeom prst="roundRect">
            <a:avLst>
              <a:gd name="adj" fmla="val 3200"/>
            </a:avLst>
          </a:prstGeom>
          <a:solidFill>
            <a:schemeClr val="bg2"/>
          </a:solidFill>
          <a:ln/>
        </p:spPr>
      </p:sp>
      <p:sp>
        <p:nvSpPr>
          <p:cNvPr id="20" name="tech-head-2"/>
          <p:cNvSpPr/>
          <p:nvPr/>
        </p:nvSpPr>
        <p:spPr>
          <a:xfrm>
            <a:off x="8503920" y="1737360"/>
            <a:ext cx="3063240" cy="457200"/>
          </a:xfrm>
          <a:prstGeom prst="roundRect">
            <a:avLst>
              <a:gd name="adj" fmla="val 16000"/>
            </a:avLst>
          </a:prstGeom>
          <a:solidFill>
            <a:srgbClr val="16324F"/>
          </a:solidFill>
          <a:ln/>
        </p:spPr>
      </p:sp>
      <p:sp>
        <p:nvSpPr>
          <p:cNvPr id="21" name="Text 19"/>
          <p:cNvSpPr txBox="1"/>
          <p:nvPr/>
        </p:nvSpPr>
        <p:spPr>
          <a:xfrm>
            <a:off x="8503920" y="1737360"/>
            <a:ext cx="3063240" cy="457200"/>
          </a:xfrm>
          <a:prstGeom prst="rect">
            <a:avLst/>
          </a:prstGeom>
          <a:noFill/>
          <a:ln/>
        </p:spPr>
        <p:txBody>
          <a:bodyPr wrap="square" lIns="0" tIns="0" rIns="0" bIns="0" rtlCol="0" anchor="ctr"/>
          <a:lstStyle/>
          <a:p>
            <a:pPr algn="ctr" indent="0" marL="0">
              <a:buNone/>
            </a:pPr>
            <a:r>
              <a:rPr lang="en-US" sz="1400" b="1" dirty="0">
                <a:solidFill>
                  <a:srgbClr val="FFFFFF"/>
                </a:solidFill>
              </a:rPr>
              <a:t>Data, tooling &amp; quality</a:t>
            </a:r>
            <a:endParaRPr lang="en-US" sz="1400" dirty="0"/>
          </a:p>
        </p:txBody>
      </p:sp>
      <p:sp>
        <p:nvSpPr>
          <p:cNvPr id="22" name="Text 20"/>
          <p:cNvSpPr txBox="1"/>
          <p:nvPr/>
        </p:nvSpPr>
        <p:spPr>
          <a:xfrm>
            <a:off x="8549640" y="2377440"/>
            <a:ext cx="2971800" cy="713232"/>
          </a:xfrm>
          <a:prstGeom prst="rect">
            <a:avLst/>
          </a:prstGeom>
          <a:noFill/>
          <a:ln/>
        </p:spPr>
        <p:txBody>
          <a:bodyPr wrap="square" lIns="0" tIns="0" rIns="0" bIns="0" rtlCol="0" anchor="t"/>
          <a:lstStyle/>
          <a:p>
            <a:pPr indent="0" marL="0">
              <a:buNone/>
            </a:pPr>
            <a:r>
              <a:rPr lang="en-US" sz="1100" b="1" dirty="0">
                <a:solidFill>
                  <a:srgbClr val="6B7280"/>
                </a:solidFill>
              </a:rPr>
              <a:t>Colbits data · dev / test DB</a:t>
            </a:r>
            <a:endParaRPr lang="en-US" sz="1100" dirty="0"/>
          </a:p>
          <a:p>
            <a:pPr indent="0" marL="0">
              <a:buNone/>
            </a:pPr>
            <a:r>
              <a:rPr lang="en-US" sz="1300" dirty="0">
                <a:solidFill>
                  <a:srgbClr val="000000"/>
                </a:solidFill>
              </a:rPr>
              <a:t>PostgreSQL + TimescaleDB</a:t>
            </a:r>
            <a:endParaRPr lang="en-US" sz="1100" dirty="0"/>
          </a:p>
        </p:txBody>
      </p:sp>
      <p:sp>
        <p:nvSpPr>
          <p:cNvPr id="23" name="Text 21"/>
          <p:cNvSpPr txBox="1"/>
          <p:nvPr/>
        </p:nvSpPr>
        <p:spPr>
          <a:xfrm>
            <a:off x="8549640" y="3145536"/>
            <a:ext cx="2971800" cy="713232"/>
          </a:xfrm>
          <a:prstGeom prst="rect">
            <a:avLst/>
          </a:prstGeom>
          <a:noFill/>
          <a:ln/>
        </p:spPr>
        <p:txBody>
          <a:bodyPr wrap="square" lIns="0" tIns="0" rIns="0" bIns="0" rtlCol="0" anchor="t"/>
          <a:lstStyle/>
          <a:p>
            <a:pPr indent="0" marL="0">
              <a:buNone/>
            </a:pPr>
            <a:r>
              <a:rPr lang="en-US" sz="1100" b="1" dirty="0">
                <a:solidFill>
                  <a:srgbClr val="6B7280"/>
                </a:solidFill>
              </a:rPr>
              <a:t>Platform-managed data</a:t>
            </a:r>
            <a:endParaRPr lang="en-US" sz="1100" dirty="0"/>
          </a:p>
          <a:p>
            <a:pPr indent="0" marL="0">
              <a:buNone/>
            </a:pPr>
            <a:r>
              <a:rPr lang="en-US" sz="1300" dirty="0">
                <a:solidFill>
                  <a:srgbClr val="000000"/>
                </a:solidFill>
              </a:rPr>
              <a:t>PostgreSQL schema + Alembic</a:t>
            </a:r>
            <a:endParaRPr lang="en-US" sz="1100" dirty="0"/>
          </a:p>
        </p:txBody>
      </p:sp>
      <p:sp>
        <p:nvSpPr>
          <p:cNvPr id="24" name="Text 22"/>
          <p:cNvSpPr txBox="1"/>
          <p:nvPr/>
        </p:nvSpPr>
        <p:spPr>
          <a:xfrm>
            <a:off x="8549640" y="3913632"/>
            <a:ext cx="2971800" cy="713232"/>
          </a:xfrm>
          <a:prstGeom prst="rect">
            <a:avLst/>
          </a:prstGeom>
          <a:noFill/>
          <a:ln/>
        </p:spPr>
        <p:txBody>
          <a:bodyPr wrap="square" lIns="0" tIns="0" rIns="0" bIns="0" rtlCol="0" anchor="t"/>
          <a:lstStyle/>
          <a:p>
            <a:pPr indent="0" marL="0">
              <a:buNone/>
            </a:pPr>
            <a:r>
              <a:rPr lang="en-US" sz="1100" b="1" dirty="0">
                <a:solidFill>
                  <a:srgbClr val="6B7280"/>
                </a:solidFill>
              </a:rPr>
              <a:t>Synthetic data generator</a:t>
            </a:r>
            <a:endParaRPr lang="en-US" sz="1100" dirty="0"/>
          </a:p>
          <a:p>
            <a:pPr indent="0" marL="0">
              <a:buNone/>
            </a:pPr>
            <a:r>
              <a:rPr lang="en-US" sz="1300" dirty="0">
                <a:solidFill>
                  <a:srgbClr val="000000"/>
                </a:solidFill>
              </a:rPr>
              <a:t>Python CLI (Typer + seeded NumPy)</a:t>
            </a:r>
            <a:endParaRPr lang="en-US" sz="1100" dirty="0"/>
          </a:p>
        </p:txBody>
      </p:sp>
      <p:sp>
        <p:nvSpPr>
          <p:cNvPr id="25" name="Text 23"/>
          <p:cNvSpPr txBox="1"/>
          <p:nvPr/>
        </p:nvSpPr>
        <p:spPr>
          <a:xfrm>
            <a:off x="8549640" y="4681728"/>
            <a:ext cx="2971800" cy="713232"/>
          </a:xfrm>
          <a:prstGeom prst="rect">
            <a:avLst/>
          </a:prstGeom>
          <a:noFill/>
          <a:ln/>
        </p:spPr>
        <p:txBody>
          <a:bodyPr wrap="square" lIns="0" tIns="0" rIns="0" bIns="0" rtlCol="0" anchor="t"/>
          <a:lstStyle/>
          <a:p>
            <a:pPr indent="0" marL="0">
              <a:buNone/>
            </a:pPr>
            <a:r>
              <a:rPr lang="en-US" sz="1100" b="1" dirty="0">
                <a:solidFill>
                  <a:srgbClr val="6B7280"/>
                </a:solidFill>
              </a:rPr>
              <a:t>Tests &amp; CI</a:t>
            </a:r>
            <a:endParaRPr lang="en-US" sz="1100" dirty="0"/>
          </a:p>
          <a:p>
            <a:pPr indent="0" marL="0">
              <a:buNone/>
            </a:pPr>
            <a:r>
              <a:rPr lang="en-US" sz="1300" dirty="0">
                <a:solidFill>
                  <a:srgbClr val="000000"/>
                </a:solidFill>
              </a:rPr>
              <a:t>pytest + coverage · Playwright · GitHub Actions</a:t>
            </a:r>
            <a:endParaRPr lang="en-US" sz="1100" dirty="0"/>
          </a:p>
        </p:txBody>
      </p:sp>
      <p:sp>
        <p:nvSpPr>
          <p:cNvPr id="26" name="Text 24"/>
          <p:cNvSpPr txBox="1"/>
          <p:nvPr/>
        </p:nvSpPr>
        <p:spPr>
          <a:xfrm>
            <a:off x="8549640" y="5449824"/>
            <a:ext cx="2971800" cy="713232"/>
          </a:xfrm>
          <a:prstGeom prst="rect">
            <a:avLst/>
          </a:prstGeom>
          <a:noFill/>
          <a:ln/>
        </p:spPr>
        <p:txBody>
          <a:bodyPr wrap="square" lIns="0" tIns="0" rIns="0" bIns="0" rtlCol="0" anchor="t"/>
          <a:lstStyle/>
          <a:p>
            <a:pPr indent="0" marL="0">
              <a:buNone/>
            </a:pPr>
            <a:r>
              <a:rPr lang="en-US" sz="1100" b="1" dirty="0">
                <a:solidFill>
                  <a:srgbClr val="6B7280"/>
                </a:solidFill>
              </a:rPr>
              <a:t>Packaging</a:t>
            </a:r>
            <a:endParaRPr lang="en-US" sz="1100" dirty="0"/>
          </a:p>
          <a:p>
            <a:pPr indent="0" marL="0">
              <a:buNone/>
            </a:pPr>
            <a:r>
              <a:rPr lang="en-US" sz="1300" dirty="0">
                <a:solidFill>
                  <a:srgbClr val="000000"/>
                </a:solidFill>
              </a:rPr>
              <a:t>Docker + Docker Compose</a:t>
            </a:r>
            <a:endParaRPr lang="en-US" sz="11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914400" y="1828800"/>
            <a:ext cx="10360152" cy="1737360"/>
          </a:xfrm>
          <a:prstGeom prst="rect">
            <a:avLst/>
          </a:prstGeom>
          <a:noFill/>
          <a:ln/>
        </p:spPr>
        <p:txBody>
          <a:bodyPr wrap="square" lIns="0" tIns="0" rIns="0" bIns="0" rtlCol="0" anchor="ctr"/>
          <a:lstStyle/>
          <a:p>
            <a:pPr algn="ctr" indent="0" marL="0">
              <a:buNone/>
            </a:pPr>
            <a:r>
              <a:rPr lang="en-US" sz="4800" b="1" dirty="0">
                <a:solidFill>
                  <a:schemeClr val="tx1"/>
                </a:solidFill>
              </a:rPr>
              <a:t>THANK YOU</a:t>
            </a:r>
            <a:endParaRPr lang="en-US" sz="4800" dirty="0"/>
          </a:p>
        </p:txBody>
      </p:sp>
      <p:sp>
        <p:nvSpPr>
          <p:cNvPr id="3" name="Text 0"/>
          <p:cNvSpPr/>
          <p:nvPr>
            <p:ph idx="102" type="body" hasCustomPrompt="1"/>
          </p:nvPr>
        </p:nvSpPr>
        <p:spPr>
          <a:xfrm>
            <a:off x="914400" y="3703320"/>
            <a:ext cx="10360152" cy="548640"/>
          </a:xfrm>
          <a:prstGeom prst="rect">
            <a:avLst/>
          </a:prstGeom>
          <a:noFill/>
          <a:ln/>
        </p:spPr>
        <p:txBody>
          <a:bodyPr wrap="square" lIns="0" tIns="0" rIns="0" bIns="0" rtlCol="0" anchor="t"/>
          <a:lstStyle/>
          <a:p>
            <a:pPr algn="ctr" indent="0" marL="0">
              <a:buNone/>
            </a:pPr>
            <a:r>
              <a:rPr lang="en-US" sz="2200" dirty="0">
                <a:solidFill>
                  <a:schemeClr val="tx1"/>
                </a:solidFill>
              </a:rPr>
              <a:t>Questions?</a:t>
            </a:r>
            <a:endParaRPr lang="en-US" sz="2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OLBITS SUCCESS">
  <a:themeElements>
    <a:clrScheme name="COLBITS SUCCESS">
      <a:dk1>
        <a:srgbClr val="000000"/>
      </a:dk1>
      <a:lt1>
        <a:srgbClr val="FFFFFF"/>
      </a:lt1>
      <a:dk2>
        <a:srgbClr val="16324F"/>
      </a:dk2>
      <a:lt2>
        <a:srgbClr val="F2F4F6"/>
      </a:lt2>
      <a:accent1>
        <a:srgbClr val="1F8A5B"/>
      </a:accent1>
      <a:accent2>
        <a:srgbClr val="E3A500"/>
      </a:accent2>
      <a:accent3>
        <a:srgbClr val="0070C0"/>
      </a:accent3>
      <a:accent4>
        <a:srgbClr val="C0392B"/>
      </a:accent4>
      <a:accent5>
        <a:srgbClr val="6B7280"/>
      </a:accent5>
      <a:accent6>
        <a:srgbClr val="A7D7BF"/>
      </a:accent6>
      <a:hlink>
        <a:srgbClr val="0070C0"/>
      </a:hlink>
      <a:folHlink>
        <a:srgbClr val="6B7280"/>
      </a:folHlink>
    </a:clrScheme>
    <a:fontScheme name="COLBITS SUCCES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COLBITS - Requirements and Design - Part 2</dc:title>
  <dc:subject>PptxGenJS Presentation</dc:subject>
  <dc:creator>COLBITS team</dc:creator>
  <cp:lastModifiedBy>COLBITS team</cp:lastModifiedBy>
  <cp:revision>1</cp:revision>
  <dcterms:created xsi:type="dcterms:W3CDTF">2026-10-07T01:45:36Z</dcterms:created>
  <dcterms:modified xsi:type="dcterms:W3CDTF">2026-10-07T01:45:36Z</dcterms:modified>
</cp:coreProperties>
</file>