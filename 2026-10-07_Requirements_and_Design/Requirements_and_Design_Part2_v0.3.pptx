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2" id="{6dcc75fa-e90d-a9c2-054a-b720a4d59379}">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Estimated effort per sprint (points)</a:t>
            </a:r>
          </a:p>
        </c:rich>
      </c:tx>
      <c:layout/>
      <c:overlay val="0"/>
    </c:title>
    <c:autoTitleDeleted val="0"/>
    <c:plotArea>
      <c:layout/>
      <c:barChart>
        <c:barDir val="col"/>
        <c:grouping val="clustered"/>
        <c:varyColors val="0"/>
        <c:ser>
          <c:idx val="0"/>
          <c:order val="0"/>
          <c:tx>
            <c:strRef>
              <c:f>Sheet1!$B$1</c:f>
              <c:strCache>
                <c:ptCount val="1"/>
                <c:pt idx="0">
                  <c:v>Estimated effort</c:v>
                </c:pt>
              </c:strCache>
            </c:strRef>
          </c:tx>
          <c:spPr>
            <a:solidFill>
              <a:srgbClr val="156082"/>
            </a:solidFill>
            <a:effectLst/>
          </c:spPr>
          <c:invertIfNegative val="0"/>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Sprint 3</c:v>
                  </c:pt>
                  <c:pt idx="1">
                    <c:v>Sprint 4</c:v>
                  </c:pt>
                  <c:pt idx="2">
                    <c:v>Sprint 5</c:v>
                  </c:pt>
                  <c:pt idx="3">
                    <c:v>Sprint 6</c:v>
                  </c:pt>
                  <c:pt idx="4">
                    <c:v>Sprint 7</c:v>
                  </c:pt>
                </c:lvl>
              </c:multiLvlStrCache>
            </c:multiLvlStrRef>
          </c:cat>
          <c:val>
            <c:numRef>
              <c:f>Sheet1!$B$2:$B$6</c:f>
              <c:numCache>
                <c:formatCode>General</c:formatCode>
                <c:ptCount val="5"/>
                <c:pt idx="0">
                  <c:v>29</c:v>
                </c:pt>
                <c:pt idx="1">
                  <c:v>29</c:v>
                </c:pt>
                <c:pt idx="2">
                  <c:v>19</c:v>
                </c:pt>
                <c:pt idx="3">
                  <c:v>29</c:v>
                </c:pt>
                <c:pt idx="4">
                  <c:v>25</c:v>
                </c:pt>
              </c:numCache>
            </c:numRef>
          </c:val>
        </c:ser>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Thank you, Javier. Now I will present the second half: requirements, backlog, mockups and architecture.
Let's start with the non-functional requirements. They are not about what the system does, but how well it does it. We have twenty-one, in four groups, and each one has a test.
First, speed. When something changes in the field, the map must show it in less than twenty seconds. And with fifty people using the system at the same time, history queries must answer in under two seconds.
Second, security. We can only read Colbits' data, never change it. Passwords are never saved as plain text, only as secure hashes. After five wrong passwords, the account is locked for fifteen minutes, and after fifteen minutes without activity, you must log in again.
Third, flexibility. All the important numbers, like the inactivity time or the five-minute window for faults, are in a configuration file. They can change without touching the code.
And fourth, testing. Automatic tests run every time we change the code, and they must cover at least eighty percent of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Here is our initial product backlog: twenty-nine user stories, each linked to the requirements. All are still "To Do", because coding starts now, in Sprint 3.
Priority five, in dark blue, is the base of the system: the data generator, login, the map and the colors of each node.
Priority four adds faults, history and export.
The last group has extras, like the chat in Spanish. It is optional, so if we run out of time, it is the first thing we drop.
On the chart you can see the effort is balanced: around twenty-five to thirty points per sprint.
And our goal for this sprint is simple: a user logs in and sees their part of the network on the map, with the right colors.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These are our mockups, made in Figma. We based them on Colbits' reference screens and already reviewed them with the client.
The big one is the main screen: live monitoring. You see the map with each pole as a colored point. Red means a fuse is open, yellow means no voltage, gray means the device stopped sending data, and green means everything is OK. When you click a node, you see its details. On the right, there is the list of active faults, with the most serious ones first.
On the right, three more screens: user management, where the administrator decides who sees what; historical analysis, with charts and indicators; and the export center, to download reports in Excel, CSV or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Now, the architecture. This diagram shows how our system is built inside.
At the top are the two types of users. Both only use the web page, and every click sends a request to our backend. Inside the backend, we have six features: the map state, faults and alarms, history, export, user administration, and the optional assistant.
Below them, there are three shared parts that every feature uses. The first one checks who you are. The second one decides what you are allowed to see. And the third one is the only part that talks to the database.
At the bottom is the data. The gray one is Colbits' database: we only read it, never write to it. The green ones are ours: one for users and faults, and one with fake data for development and testing.
So, in short: Colbits' production data is always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This sequence shows the most important flow: opening the live map safely.
Step one: the user logs in, and the backend gives them a token. Think of it as a digital pass that says who they are and what they can see.
Step two: every request from the map carries that pass.
Step three: the backend checks the pass and applies the filter on the server, not in the browser. So a user can never see data from another zone.
Finally, the backend reads the latest data, calculates the color of each node, and sends back only the nodes that this user is allowed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 second sequence shows how raw data becomes alarms and reports.
In the loop at the top, a background process runs every few seconds. It reads the new events from Colbits' database. Then it groups the fuses that opened within five minutes into one fault, and it decides if it is a single-, two- or three-phase fault. It also detects devices that stopped sending data.
The important detail: it saves the results in our own database, never in Colbits' database.
When a user asks for one month of history, the backend checks their permissions again and sends the data for the charts.
And when they export a report, the server calculates everything. So the same filters always give the same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These are our six key decisions, and why we made them.
One: we build one single backend, divided into modules, and not microservices. We are six part-time students with fourteen weeks, so we need something simple to build and test.
Two: Colbits' data is read-only. Our own data lives in a separate space. The database itself blocks any writing, so it is not only a promise.
Three: the permission filter lives in one single place, on the server. One place is easier to protect, and easier to test.
Four: faults are calculated once, in the background. That way, every screen shows the same numbers, and the app stays fast.
Five: the map asks for new data every ten seconds. It is simpler than a live connection, and it is fast enough for the twenty-second goal.
And six: we use fake data, Docker and automatic tests from day one, so we never depend on the real database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Of course, some risks are still open.
First, performance. We can't optimize Colbits' database, because we can't change it. So we will prepare the heavy calculations in our own database, and we will test the speed early.
Second, the real data has some unusual details. For example, one transformer reading is split across three tables.
Third, we must measure the twenty-second goal, not just assume it.
And finally, we still need to confirm a few small details with Colbits, like the exact colors in the mockups.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And finally, the technologies, one column per part of the diagram.
For the frontend, we use React with TypeScript. The map uses Leaflet, which is free and groups nearby points when you zoom out. Charts are made with Recharts.
For the backend, we use Python with FastAPI. One big advantage: it creates the API documentation automatically, and that is one of our deliverables. Login uses JWT tokens, and passwords are protected with Argon2. The fault engine is a background job, and reports are created with standard Python libraries.
For data, we use PostgreSQL with TimescaleDB, the same as Colbits. The fake data generator is also in Python. Tests run automatically on GitHub, and everything runs in Docker, so any team member can start the project with one command.
That's all from my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chemeClr val="tx2"/>
          </a:solidFill>
          <a:ln/>
        </p:spPr>
      </p:sp>
      <p:pic>
        <p:nvPicPr>
          <p:cNvPr id="3" name="Image 0" descr="/tmp/claude-0/-home-user-COLBITS-Project/4a2a7ff8-e34c-542f-b78d-7d69144981df/scratchpad/jv/success_logo.png">    </p:cNvPr>
          <p:cNvPicPr>
            <a:picLocks noChangeAspect="1"/>
          </p:cNvPicPr>
          <p:nvPr/>
        </p:nvPicPr>
        <p:blipFill>
          <a:blip r:embed="rId1"/>
          <a:stretch>
            <a:fillRect/>
          </a:stretch>
        </p:blipFill>
        <p:spPr>
          <a:xfrm>
            <a:off x="10506456" y="260604"/>
            <a:ext cx="1444752" cy="521208"/>
          </a:xfrm>
          <a:prstGeom prst="rect">
            <a:avLst/>
          </a:prstGeom>
        </p:spPr>
      </p:pic>
      <p:sp>
        <p:nvSpPr>
          <p:cNvPr id="4" name="Shape 1"/>
          <p:cNvSpPr/>
          <p:nvPr/>
        </p:nvSpPr>
        <p:spPr>
          <a:xfrm>
            <a:off x="233172" y="6126480"/>
            <a:ext cx="11736324" cy="0"/>
          </a:xfrm>
          <a:prstGeom prst="line">
            <a:avLst/>
          </a:prstGeom>
          <a:noFill/>
          <a:ln w="9525">
            <a:solidFill>
              <a:srgbClr val="D9D9D9"/>
            </a:solidFill>
            <a:prstDash val="dash"/>
          </a:ln>
        </p:spPr>
      </p:sp>
      <p:pic>
        <p:nvPicPr>
          <p:cNvPr id="5" name="Image 1" descr="/tmp/claude-0/-home-user-COLBITS-Project/4a2a7ff8-e34c-542f-b78d-7d69144981df/scratchpad/jv/footer_logos.png">    </p:cNvPr>
          <p:cNvPicPr>
            <a:picLocks noChangeAspect="1"/>
          </p:cNvPicPr>
          <p:nvPr/>
        </p:nvPicPr>
        <p:blipFill>
          <a:blip r:embed="rId2"/>
          <a:stretch>
            <a:fillRect/>
          </a:stretch>
        </p:blipFill>
        <p:spPr>
          <a:xfrm>
            <a:off x="0" y="6153912"/>
            <a:ext cx="11064240" cy="704088"/>
          </a:xfrm>
          <a:prstGeom prst="rect">
            <a:avLst/>
          </a:prstGeom>
        </p:spPr>
      </p:pic>
      <p:sp>
        <p:nvSpPr>
          <p:cNvPr id="6" name="Text 2"/>
          <p:cNvSpPr/>
          <p:nvPr>
            <p:ph idx="104" type="title" hasCustomPrompt="1"/>
          </p:nvPr>
        </p:nvSpPr>
        <p:spPr>
          <a:xfrm>
            <a:off x="914400" y="749808"/>
            <a:ext cx="941832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NON-FUNCTIONAL REQUIREMENTS</a:t>
            </a:r>
            <a:endParaRPr lang="en-US" sz="3200" dirty="0"/>
          </a:p>
        </p:txBody>
      </p:sp>
      <p:sp>
        <p:nvSpPr>
          <p:cNvPr id="3" name="Text 1"/>
          <p:cNvSpPr txBox="1"/>
          <p:nvPr/>
        </p:nvSpPr>
        <p:spPr>
          <a:xfrm>
            <a:off x="914400" y="1481328"/>
            <a:ext cx="10332720" cy="320040"/>
          </a:xfrm>
          <a:prstGeom prst="rect">
            <a:avLst/>
          </a:prstGeom>
          <a:noFill/>
          <a:ln/>
        </p:spPr>
        <p:txBody>
          <a:bodyPr wrap="square" lIns="0" tIns="0" rIns="0" bIns="0" rtlCol="0" anchor="ctr"/>
          <a:lstStyle/>
          <a:p>
            <a:pPr indent="0" marL="0">
              <a:buNone/>
            </a:pPr>
            <a:r>
              <a:rPr lang="en-US" sz="1300" dirty="0">
                <a:solidFill>
                  <a:schemeClr val="tx1"/>
                </a:solidFill>
              </a:rPr>
              <a:t>21 measurable requirements (NF-01 to NF-21), each with its own acceptance test.</a:t>
            </a:r>
            <a:endParaRPr lang="en-US" sz="1300" dirty="0"/>
          </a:p>
        </p:txBody>
      </p:sp>
      <p:sp>
        <p:nvSpPr>
          <p:cNvPr id="4" name="nfr-card-0"/>
          <p:cNvSpPr/>
          <p:nvPr/>
        </p:nvSpPr>
        <p:spPr>
          <a:xfrm>
            <a:off x="914400" y="1965960"/>
            <a:ext cx="2468880" cy="3931920"/>
          </a:xfrm>
          <a:prstGeom prst="rect">
            <a:avLst/>
          </a:prstGeom>
          <a:solidFill>
            <a:schemeClr val="bg2"/>
          </a:solidFill>
          <a:ln/>
        </p:spPr>
      </p:sp>
      <p:sp>
        <p:nvSpPr>
          <p:cNvPr id="5" name="Text 3"/>
          <p:cNvSpPr txBox="1"/>
          <p:nvPr/>
        </p:nvSpPr>
        <p:spPr>
          <a:xfrm>
            <a:off x="1097280" y="2103120"/>
            <a:ext cx="2103120" cy="731520"/>
          </a:xfrm>
          <a:prstGeom prst="rect">
            <a:avLst/>
          </a:prstGeom>
          <a:noFill/>
          <a:ln/>
        </p:spPr>
        <p:txBody>
          <a:bodyPr wrap="square" lIns="0" tIns="0" rIns="0" bIns="0" rtlCol="0" anchor="ctr"/>
          <a:lstStyle/>
          <a:p>
            <a:pPr indent="0" marL="0">
              <a:buNone/>
            </a:pPr>
            <a:r>
              <a:rPr lang="en-US" sz="3600" b="1" dirty="0">
                <a:solidFill>
                  <a:schemeClr val="accent1"/>
                </a:solidFill>
                <a:latin typeface="Montserrat" pitchFamily="34" charset="0"/>
                <a:ea typeface="Montserrat" pitchFamily="34" charset="-122"/>
                <a:cs typeface="Montserrat" pitchFamily="34" charset="-120"/>
              </a:rPr>
              <a:t>20 s</a:t>
            </a:r>
            <a:endParaRPr lang="en-US" sz="3600" dirty="0"/>
          </a:p>
        </p:txBody>
      </p:sp>
      <p:sp>
        <p:nvSpPr>
          <p:cNvPr id="6" name="Text 4"/>
          <p:cNvSpPr txBox="1"/>
          <p:nvPr/>
        </p:nvSpPr>
        <p:spPr>
          <a:xfrm>
            <a:off x="1097280" y="283464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Performance</a:t>
            </a:r>
            <a:endParaRPr lang="en-US" sz="1600" dirty="0"/>
          </a:p>
        </p:txBody>
      </p:sp>
      <p:sp>
        <p:nvSpPr>
          <p:cNvPr id="7" name="Text 5"/>
          <p:cNvSpPr txBox="1"/>
          <p:nvPr/>
        </p:nvSpPr>
        <p:spPr>
          <a:xfrm>
            <a:off x="1097280" y="3154680"/>
            <a:ext cx="2103120" cy="256032"/>
          </a:xfrm>
          <a:prstGeom prst="rect">
            <a:avLst/>
          </a:prstGeom>
          <a:noFill/>
          <a:ln/>
        </p:spPr>
        <p:txBody>
          <a:bodyPr wrap="square" lIns="0" tIns="0" rIns="0" bIns="0" rtlCol="0" anchor="ctr"/>
          <a:lstStyle/>
          <a:p>
            <a:pPr indent="0" marL="0">
              <a:buNone/>
            </a:pPr>
            <a:r>
              <a:rPr lang="en-US" sz="1100" dirty="0">
                <a:solidFill>
                  <a:schemeClr val="accent5"/>
                </a:solidFill>
              </a:rPr>
              <a:t>NF-01 – NF-02</a:t>
            </a:r>
            <a:endParaRPr lang="en-US" sz="1100" dirty="0"/>
          </a:p>
        </p:txBody>
      </p:sp>
      <p:sp>
        <p:nvSpPr>
          <p:cNvPr id="8" name="Text 6"/>
          <p:cNvSpPr txBox="1"/>
          <p:nvPr/>
        </p:nvSpPr>
        <p:spPr>
          <a:xfrm>
            <a:off x="1051560" y="3520440"/>
            <a:ext cx="2194560" cy="224028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chemeClr val="tx1"/>
                </a:solidFill>
              </a:rPr>
              <a:t>Node state change on the map in ≤ 20 s</a:t>
            </a:r>
            <a:endParaRPr lang="en-US" sz="1250" dirty="0"/>
          </a:p>
          <a:p>
            <a:pPr marL="139700" indent="-139700">
              <a:spcAft>
                <a:spcPts val="500"/>
              </a:spcAft>
              <a:buSzPct val="100000"/>
              <a:buChar char="•"/>
            </a:pPr>
            <a:r>
              <a:rPr lang="en-US" sz="1250" dirty="0">
                <a:solidFill>
                  <a:schemeClr val="tx1"/>
                </a:solidFill>
              </a:rPr>
              <a:t>95 % of history queries ≤ 2 s with 50 concurrent users</a:t>
            </a:r>
            <a:endParaRPr lang="en-US" sz="1250" dirty="0"/>
          </a:p>
        </p:txBody>
      </p:sp>
      <p:sp>
        <p:nvSpPr>
          <p:cNvPr id="9" name="nfr-card-1"/>
          <p:cNvSpPr/>
          <p:nvPr/>
        </p:nvSpPr>
        <p:spPr>
          <a:xfrm>
            <a:off x="3566160" y="1965960"/>
            <a:ext cx="2468880" cy="3931920"/>
          </a:xfrm>
          <a:prstGeom prst="rect">
            <a:avLst/>
          </a:prstGeom>
          <a:solidFill>
            <a:schemeClr val="bg2"/>
          </a:solidFill>
          <a:ln/>
        </p:spPr>
      </p:sp>
      <p:sp>
        <p:nvSpPr>
          <p:cNvPr id="10" name="Text 8"/>
          <p:cNvSpPr txBox="1"/>
          <p:nvPr/>
        </p:nvSpPr>
        <p:spPr>
          <a:xfrm>
            <a:off x="3749040" y="2103120"/>
            <a:ext cx="2103120" cy="731520"/>
          </a:xfrm>
          <a:prstGeom prst="rect">
            <a:avLst/>
          </a:prstGeom>
          <a:noFill/>
          <a:ln/>
        </p:spPr>
        <p:txBody>
          <a:bodyPr wrap="square" lIns="0" tIns="0" rIns="0" bIns="0" rtlCol="0" anchor="ctr"/>
          <a:lstStyle/>
          <a:p>
            <a:pPr indent="0" marL="0">
              <a:buNone/>
            </a:pPr>
            <a:r>
              <a:rPr lang="en-US" sz="3600" b="1" dirty="0">
                <a:solidFill>
                  <a:schemeClr val="accent1"/>
                </a:solidFill>
                <a:latin typeface="Montserrat" pitchFamily="34" charset="0"/>
                <a:ea typeface="Montserrat" pitchFamily="34" charset="-122"/>
                <a:cs typeface="Montserrat" pitchFamily="34" charset="-120"/>
              </a:rPr>
              <a:t>R/O</a:t>
            </a:r>
            <a:endParaRPr lang="en-US" sz="3600" dirty="0"/>
          </a:p>
        </p:txBody>
      </p:sp>
      <p:sp>
        <p:nvSpPr>
          <p:cNvPr id="11" name="Text 9"/>
          <p:cNvSpPr txBox="1"/>
          <p:nvPr/>
        </p:nvSpPr>
        <p:spPr>
          <a:xfrm>
            <a:off x="3749040" y="283464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Security</a:t>
            </a:r>
            <a:endParaRPr lang="en-US" sz="1600" dirty="0"/>
          </a:p>
        </p:txBody>
      </p:sp>
      <p:sp>
        <p:nvSpPr>
          <p:cNvPr id="12" name="Text 10"/>
          <p:cNvSpPr txBox="1"/>
          <p:nvPr/>
        </p:nvSpPr>
        <p:spPr>
          <a:xfrm>
            <a:off x="3749040" y="3154680"/>
            <a:ext cx="2103120" cy="256032"/>
          </a:xfrm>
          <a:prstGeom prst="rect">
            <a:avLst/>
          </a:prstGeom>
          <a:noFill/>
          <a:ln/>
        </p:spPr>
        <p:txBody>
          <a:bodyPr wrap="square" lIns="0" tIns="0" rIns="0" bIns="0" rtlCol="0" anchor="ctr"/>
          <a:lstStyle/>
          <a:p>
            <a:pPr indent="0" marL="0">
              <a:buNone/>
            </a:pPr>
            <a:r>
              <a:rPr lang="en-US" sz="1100" dirty="0">
                <a:solidFill>
                  <a:schemeClr val="accent5"/>
                </a:solidFill>
              </a:rPr>
              <a:t>NF-03 – NF-06</a:t>
            </a:r>
            <a:endParaRPr lang="en-US" sz="1100" dirty="0"/>
          </a:p>
        </p:txBody>
      </p:sp>
      <p:sp>
        <p:nvSpPr>
          <p:cNvPr id="13" name="Text 11"/>
          <p:cNvSpPr txBox="1"/>
          <p:nvPr/>
        </p:nvSpPr>
        <p:spPr>
          <a:xfrm>
            <a:off x="3703320" y="3520440"/>
            <a:ext cx="2194560" cy="224028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chemeClr val="tx1"/>
                </a:solidFill>
              </a:rPr>
              <a:t>Colbits telemetry and alarm tables are read-only</a:t>
            </a:r>
            <a:endParaRPr lang="en-US" sz="1250" dirty="0"/>
          </a:p>
          <a:p>
            <a:pPr marL="139700" indent="-139700">
              <a:spcAft>
                <a:spcPts val="500"/>
              </a:spcAft>
              <a:buSzPct val="100000"/>
              <a:buChar char="•"/>
            </a:pPr>
            <a:r>
              <a:rPr lang="en-US" sz="1250" dirty="0">
                <a:solidFill>
                  <a:schemeClr val="tx1"/>
                </a:solidFill>
              </a:rPr>
              <a:t>Salted bcrypt / Argon2 hashes</a:t>
            </a:r>
            <a:endParaRPr lang="en-US" sz="1250" dirty="0"/>
          </a:p>
          <a:p>
            <a:pPr marL="139700" indent="-139700">
              <a:spcAft>
                <a:spcPts val="500"/>
              </a:spcAft>
              <a:buSzPct val="100000"/>
              <a:buChar char="•"/>
            </a:pPr>
            <a:r>
              <a:rPr lang="en-US" sz="1250" dirty="0">
                <a:solidFill>
                  <a:schemeClr val="tx1"/>
                </a:solidFill>
              </a:rPr>
              <a:t>Lock 15 min after 5 failed logins</a:t>
            </a:r>
            <a:endParaRPr lang="en-US" sz="1250" dirty="0"/>
          </a:p>
          <a:p>
            <a:pPr marL="139700" indent="-139700">
              <a:spcAft>
                <a:spcPts val="500"/>
              </a:spcAft>
              <a:buSzPct val="100000"/>
              <a:buChar char="•"/>
            </a:pPr>
            <a:r>
              <a:rPr lang="en-US" sz="1250" dirty="0">
                <a:solidFill>
                  <a:schemeClr val="tx1"/>
                </a:solidFill>
              </a:rPr>
              <a:t>Token expires after 15 idle minutes</a:t>
            </a:r>
            <a:endParaRPr lang="en-US" sz="1250" dirty="0"/>
          </a:p>
        </p:txBody>
      </p:sp>
      <p:sp>
        <p:nvSpPr>
          <p:cNvPr id="14" name="nfr-card-2"/>
          <p:cNvSpPr/>
          <p:nvPr/>
        </p:nvSpPr>
        <p:spPr>
          <a:xfrm>
            <a:off x="6217920" y="1965960"/>
            <a:ext cx="2468880" cy="3931920"/>
          </a:xfrm>
          <a:prstGeom prst="rect">
            <a:avLst/>
          </a:prstGeom>
          <a:solidFill>
            <a:schemeClr val="bg2"/>
          </a:solidFill>
          <a:ln/>
        </p:spPr>
      </p:sp>
      <p:sp>
        <p:nvSpPr>
          <p:cNvPr id="15" name="Text 13"/>
          <p:cNvSpPr txBox="1"/>
          <p:nvPr/>
        </p:nvSpPr>
        <p:spPr>
          <a:xfrm>
            <a:off x="6400800" y="2103120"/>
            <a:ext cx="2103120" cy="731520"/>
          </a:xfrm>
          <a:prstGeom prst="rect">
            <a:avLst/>
          </a:prstGeom>
          <a:noFill/>
          <a:ln/>
        </p:spPr>
        <p:txBody>
          <a:bodyPr wrap="square" lIns="0" tIns="0" rIns="0" bIns="0" rtlCol="0" anchor="ctr"/>
          <a:lstStyle/>
          <a:p>
            <a:pPr indent="0" marL="0">
              <a:buNone/>
            </a:pPr>
            <a:r>
              <a:rPr lang="en-US" sz="3600" b="1" dirty="0">
                <a:solidFill>
                  <a:schemeClr val="accent1"/>
                </a:solidFill>
                <a:latin typeface="Montserrat" pitchFamily="34" charset="0"/>
                <a:ea typeface="Montserrat" pitchFamily="34" charset="-122"/>
                <a:cs typeface="Montserrat" pitchFamily="34" charset="-120"/>
              </a:rPr>
              <a:t>6</a:t>
            </a:r>
            <a:endParaRPr lang="en-US" sz="3600" dirty="0"/>
          </a:p>
        </p:txBody>
      </p:sp>
      <p:sp>
        <p:nvSpPr>
          <p:cNvPr id="16" name="Text 14"/>
          <p:cNvSpPr txBox="1"/>
          <p:nvPr/>
        </p:nvSpPr>
        <p:spPr>
          <a:xfrm>
            <a:off x="6400800" y="283464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Flexibility</a:t>
            </a:r>
            <a:endParaRPr lang="en-US" sz="1600" dirty="0"/>
          </a:p>
        </p:txBody>
      </p:sp>
      <p:sp>
        <p:nvSpPr>
          <p:cNvPr id="17" name="Text 15"/>
          <p:cNvSpPr txBox="1"/>
          <p:nvPr/>
        </p:nvSpPr>
        <p:spPr>
          <a:xfrm>
            <a:off x="6400800" y="3154680"/>
            <a:ext cx="2103120" cy="256032"/>
          </a:xfrm>
          <a:prstGeom prst="rect">
            <a:avLst/>
          </a:prstGeom>
          <a:noFill/>
          <a:ln/>
        </p:spPr>
        <p:txBody>
          <a:bodyPr wrap="square" lIns="0" tIns="0" rIns="0" bIns="0" rtlCol="0" anchor="ctr"/>
          <a:lstStyle/>
          <a:p>
            <a:pPr indent="0" marL="0">
              <a:buNone/>
            </a:pPr>
            <a:r>
              <a:rPr lang="en-US" sz="1100" dirty="0">
                <a:solidFill>
                  <a:schemeClr val="accent5"/>
                </a:solidFill>
              </a:rPr>
              <a:t>NF-07 – NF-12</a:t>
            </a:r>
            <a:endParaRPr lang="en-US" sz="1100" dirty="0"/>
          </a:p>
        </p:txBody>
      </p:sp>
      <p:sp>
        <p:nvSpPr>
          <p:cNvPr id="18" name="Text 16"/>
          <p:cNvSpPr txBox="1"/>
          <p:nvPr/>
        </p:nvSpPr>
        <p:spPr>
          <a:xfrm>
            <a:off x="6355080" y="3520440"/>
            <a:ext cx="2194560" cy="224028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chemeClr val="tx1"/>
                </a:solidFill>
              </a:rPr>
              <a:t>Configurable with no code change:</a:t>
            </a:r>
            <a:endParaRPr lang="en-US" sz="1250" dirty="0"/>
          </a:p>
          <a:p>
            <a:pPr marL="139700" indent="-139700">
              <a:spcAft>
                <a:spcPts val="500"/>
              </a:spcAft>
              <a:buSzPct val="100000"/>
              <a:buChar char="•"/>
            </a:pPr>
            <a:r>
              <a:rPr lang="en-US" sz="1250" dirty="0">
                <a:solidFill>
                  <a:schemeClr val="tx1"/>
                </a:solidFill>
              </a:rPr>
              <a:t>inactivity and low-energy thresholds</a:t>
            </a:r>
            <a:endParaRPr lang="en-US" sz="1250" dirty="0"/>
          </a:p>
          <a:p>
            <a:pPr marL="139700" indent="-139700">
              <a:spcAft>
                <a:spcPts val="500"/>
              </a:spcAft>
              <a:buSzPct val="100000"/>
              <a:buChar char="•"/>
            </a:pPr>
            <a:r>
              <a:rPr lang="en-US" sz="1250" dirty="0">
                <a:solidFill>
                  <a:schemeClr val="tx1"/>
                </a:solidFill>
              </a:rPr>
              <a:t>5-min grouping window, min. duration</a:t>
            </a:r>
            <a:endParaRPr lang="en-US" sz="1250" dirty="0"/>
          </a:p>
          <a:p>
            <a:pPr marL="139700" indent="-139700">
              <a:spcAft>
                <a:spcPts val="500"/>
              </a:spcAft>
              <a:buSzPct val="100000"/>
              <a:buChar char="•"/>
            </a:pPr>
            <a:r>
              <a:rPr lang="en-US" sz="1250" dirty="0">
                <a:solidFill>
                  <a:schemeClr val="tx1"/>
                </a:solidFill>
              </a:rPr>
              <a:t>severity criterion, SMAC tolerance</a:t>
            </a:r>
            <a:endParaRPr lang="en-US" sz="1250" dirty="0"/>
          </a:p>
        </p:txBody>
      </p:sp>
      <p:sp>
        <p:nvSpPr>
          <p:cNvPr id="19" name="nfr-card-3"/>
          <p:cNvSpPr/>
          <p:nvPr/>
        </p:nvSpPr>
        <p:spPr>
          <a:xfrm>
            <a:off x="8869680" y="1965960"/>
            <a:ext cx="2468880" cy="3931920"/>
          </a:xfrm>
          <a:prstGeom prst="rect">
            <a:avLst/>
          </a:prstGeom>
          <a:solidFill>
            <a:schemeClr val="bg2"/>
          </a:solidFill>
          <a:ln/>
        </p:spPr>
      </p:sp>
      <p:sp>
        <p:nvSpPr>
          <p:cNvPr id="20" name="Text 18"/>
          <p:cNvSpPr txBox="1"/>
          <p:nvPr/>
        </p:nvSpPr>
        <p:spPr>
          <a:xfrm>
            <a:off x="9052560" y="2103120"/>
            <a:ext cx="2103120" cy="731520"/>
          </a:xfrm>
          <a:prstGeom prst="rect">
            <a:avLst/>
          </a:prstGeom>
          <a:noFill/>
          <a:ln/>
        </p:spPr>
        <p:txBody>
          <a:bodyPr wrap="square" lIns="0" tIns="0" rIns="0" bIns="0" rtlCol="0" anchor="ctr"/>
          <a:lstStyle/>
          <a:p>
            <a:pPr indent="0" marL="0">
              <a:buNone/>
            </a:pPr>
            <a:r>
              <a:rPr lang="en-US" sz="3600" b="1" dirty="0">
                <a:solidFill>
                  <a:schemeClr val="accent1"/>
                </a:solidFill>
                <a:latin typeface="Montserrat" pitchFamily="34" charset="0"/>
                <a:ea typeface="Montserrat" pitchFamily="34" charset="-122"/>
                <a:cs typeface="Montserrat" pitchFamily="34" charset="-120"/>
              </a:rPr>
              <a:t>80 %</a:t>
            </a:r>
            <a:endParaRPr lang="en-US" sz="3600" dirty="0"/>
          </a:p>
        </p:txBody>
      </p:sp>
      <p:sp>
        <p:nvSpPr>
          <p:cNvPr id="21" name="Text 19"/>
          <p:cNvSpPr txBox="1"/>
          <p:nvPr/>
        </p:nvSpPr>
        <p:spPr>
          <a:xfrm>
            <a:off x="9052560" y="283464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Testability</a:t>
            </a:r>
            <a:endParaRPr lang="en-US" sz="1600" dirty="0"/>
          </a:p>
        </p:txBody>
      </p:sp>
      <p:sp>
        <p:nvSpPr>
          <p:cNvPr id="22" name="Text 20"/>
          <p:cNvSpPr txBox="1"/>
          <p:nvPr/>
        </p:nvSpPr>
        <p:spPr>
          <a:xfrm>
            <a:off x="9052560" y="3154680"/>
            <a:ext cx="2103120" cy="256032"/>
          </a:xfrm>
          <a:prstGeom prst="rect">
            <a:avLst/>
          </a:prstGeom>
          <a:noFill/>
          <a:ln/>
        </p:spPr>
        <p:txBody>
          <a:bodyPr wrap="square" lIns="0" tIns="0" rIns="0" bIns="0" rtlCol="0" anchor="ctr"/>
          <a:lstStyle/>
          <a:p>
            <a:pPr indent="0" marL="0">
              <a:buNone/>
            </a:pPr>
            <a:r>
              <a:rPr lang="en-US" sz="1100" dirty="0">
                <a:solidFill>
                  <a:schemeClr val="accent5"/>
                </a:solidFill>
              </a:rPr>
              <a:t>NF-13 – NF-21</a:t>
            </a:r>
            <a:endParaRPr lang="en-US" sz="1100" dirty="0"/>
          </a:p>
        </p:txBody>
      </p:sp>
      <p:sp>
        <p:nvSpPr>
          <p:cNvPr id="23" name="Text 21"/>
          <p:cNvSpPr txBox="1"/>
          <p:nvPr/>
        </p:nvSpPr>
        <p:spPr>
          <a:xfrm>
            <a:off x="9006840" y="3520440"/>
            <a:ext cx="2194560" cy="224028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chemeClr val="tx1"/>
                </a:solidFill>
              </a:rPr>
              <a:t>API + UI suites on generated data</a:t>
            </a:r>
            <a:endParaRPr lang="en-US" sz="1250" dirty="0"/>
          </a:p>
          <a:p>
            <a:pPr marL="139700" indent="-139700">
              <a:spcAft>
                <a:spcPts val="500"/>
              </a:spcAft>
              <a:buSzPct val="100000"/>
              <a:buChar char="•"/>
            </a:pPr>
            <a:r>
              <a:rPr lang="en-US" sz="1250" dirty="0">
                <a:solidFill>
                  <a:schemeClr val="tx1"/>
                </a:solidFill>
              </a:rPr>
              <a:t>Explicit scope-leak test</a:t>
            </a:r>
            <a:endParaRPr lang="en-US" sz="1250" dirty="0"/>
          </a:p>
          <a:p>
            <a:pPr marL="139700" indent="-139700">
              <a:spcAft>
                <a:spcPts val="500"/>
              </a:spcAft>
              <a:buSzPct val="100000"/>
              <a:buChar char="•"/>
            </a:pPr>
            <a:r>
              <a:rPr lang="en-US" sz="1250" dirty="0">
                <a:solidFill>
                  <a:schemeClr val="tx1"/>
                </a:solidFill>
              </a:rPr>
              <a:t>CI on every PR to main</a:t>
            </a:r>
            <a:endParaRPr lang="en-US" sz="1250" dirty="0"/>
          </a:p>
          <a:p>
            <a:pPr marL="139700" indent="-139700">
              <a:spcAft>
                <a:spcPts val="500"/>
              </a:spcAft>
              <a:buSzPct val="100000"/>
              <a:buChar char="•"/>
            </a:pPr>
            <a:r>
              <a:rPr lang="en-US" sz="1250" dirty="0">
                <a:solidFill>
                  <a:schemeClr val="tx1"/>
                </a:solidFill>
              </a:rPr>
              <a:t>≥ 80 % API coverage, clean-env setup</a:t>
            </a:r>
            <a:endParaRPr lang="en-US" sz="125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INITIAL PRODUCT BACKLOG</a:t>
            </a:r>
            <a:endParaRPr lang="en-US" sz="3200" dirty="0"/>
          </a:p>
        </p:txBody>
      </p:sp>
      <p:sp>
        <p:nvSpPr>
          <p:cNvPr id="3" name="Text 1"/>
          <p:cNvSpPr txBox="1"/>
          <p:nvPr/>
        </p:nvSpPr>
        <p:spPr>
          <a:xfrm>
            <a:off x="914400" y="1481328"/>
            <a:ext cx="10332720" cy="320040"/>
          </a:xfrm>
          <a:prstGeom prst="rect">
            <a:avLst/>
          </a:prstGeom>
          <a:noFill/>
          <a:ln/>
        </p:spPr>
        <p:txBody>
          <a:bodyPr wrap="square" lIns="0" tIns="0" rIns="0" bIns="0" rtlCol="0" anchor="ctr"/>
          <a:lstStyle/>
          <a:p>
            <a:pPr indent="0" marL="0">
              <a:buNone/>
            </a:pPr>
            <a:r>
              <a:rPr lang="en-US" sz="1300" dirty="0">
                <a:solidFill>
                  <a:schemeClr val="tx1"/>
                </a:solidFill>
              </a:rPr>
              <a:t>29 user stories, all To Do — coding starts in Sprint 3.</a:t>
            </a:r>
            <a:endParaRPr lang="en-US" sz="1300" dirty="0"/>
          </a:p>
        </p:txBody>
      </p:sp>
      <p:sp>
        <p:nvSpPr>
          <p:cNvPr id="4" name="Text 2"/>
          <p:cNvSpPr txBox="1"/>
          <p:nvPr/>
        </p:nvSpPr>
        <p:spPr>
          <a:xfrm>
            <a:off x="914400" y="1920240"/>
            <a:ext cx="1234440" cy="640080"/>
          </a:xfrm>
          <a:prstGeom prst="rect">
            <a:avLst/>
          </a:prstGeom>
          <a:noFill/>
          <a:ln/>
        </p:spPr>
        <p:txBody>
          <a:bodyPr wrap="square" lIns="0" tIns="0" rIns="0" bIns="0" rtlCol="0" anchor="ctr"/>
          <a:lstStyle/>
          <a:p>
            <a:pPr indent="0" marL="0">
              <a:buNone/>
            </a:pPr>
            <a:r>
              <a:rPr lang="en-US" sz="3400" b="1" dirty="0">
                <a:solidFill>
                  <a:schemeClr val="accent1"/>
                </a:solidFill>
                <a:latin typeface="Montserrat" pitchFamily="34" charset="0"/>
                <a:ea typeface="Montserrat" pitchFamily="34" charset="-122"/>
                <a:cs typeface="Montserrat" pitchFamily="34" charset="-120"/>
              </a:rPr>
              <a:t>29</a:t>
            </a:r>
            <a:endParaRPr lang="en-US" sz="3400" dirty="0"/>
          </a:p>
        </p:txBody>
      </p:sp>
      <p:sp>
        <p:nvSpPr>
          <p:cNvPr id="5" name="Text 3"/>
          <p:cNvSpPr txBox="1"/>
          <p:nvPr/>
        </p:nvSpPr>
        <p:spPr>
          <a:xfrm>
            <a:off x="2194560" y="1920240"/>
            <a:ext cx="2743200" cy="640080"/>
          </a:xfrm>
          <a:prstGeom prst="rect">
            <a:avLst/>
          </a:prstGeom>
          <a:noFill/>
          <a:ln/>
        </p:spPr>
        <p:txBody>
          <a:bodyPr wrap="square" lIns="0" tIns="0" rIns="0" bIns="0" rtlCol="0" anchor="ctr"/>
          <a:lstStyle/>
          <a:p>
            <a:pPr indent="0" marL="0">
              <a:buNone/>
            </a:pPr>
            <a:r>
              <a:rPr lang="en-US" sz="1300" dirty="0">
                <a:solidFill>
                  <a:schemeClr val="tx1"/>
                </a:solidFill>
              </a:rPr>
              <a:t>user stories, each traced to F- / NF- requirements</a:t>
            </a:r>
            <a:endParaRPr lang="en-US" sz="1300" dirty="0"/>
          </a:p>
        </p:txBody>
      </p:sp>
      <p:sp>
        <p:nvSpPr>
          <p:cNvPr id="6" name="Text 4"/>
          <p:cNvSpPr txBox="1"/>
          <p:nvPr/>
        </p:nvSpPr>
        <p:spPr>
          <a:xfrm>
            <a:off x="914400" y="2697480"/>
            <a:ext cx="1234440" cy="640080"/>
          </a:xfrm>
          <a:prstGeom prst="rect">
            <a:avLst/>
          </a:prstGeom>
          <a:noFill/>
          <a:ln/>
        </p:spPr>
        <p:txBody>
          <a:bodyPr wrap="square" lIns="0" tIns="0" rIns="0" bIns="0" rtlCol="0" anchor="ctr"/>
          <a:lstStyle/>
          <a:p>
            <a:pPr indent="0" marL="0">
              <a:buNone/>
            </a:pPr>
            <a:r>
              <a:rPr lang="en-US" sz="3400" b="1" dirty="0">
                <a:solidFill>
                  <a:schemeClr val="accent1"/>
                </a:solidFill>
                <a:latin typeface="Montserrat" pitchFamily="34" charset="0"/>
                <a:ea typeface="Montserrat" pitchFamily="34" charset="-122"/>
                <a:cs typeface="Montserrat" pitchFamily="34" charset="-120"/>
              </a:rPr>
              <a:t>131</a:t>
            </a:r>
            <a:endParaRPr lang="en-US" sz="3400" dirty="0"/>
          </a:p>
        </p:txBody>
      </p:sp>
      <p:sp>
        <p:nvSpPr>
          <p:cNvPr id="7" name="Text 5"/>
          <p:cNvSpPr txBox="1"/>
          <p:nvPr/>
        </p:nvSpPr>
        <p:spPr>
          <a:xfrm>
            <a:off x="2194560" y="2697480"/>
            <a:ext cx="2743200" cy="640080"/>
          </a:xfrm>
          <a:prstGeom prst="rect">
            <a:avLst/>
          </a:prstGeom>
          <a:noFill/>
          <a:ln/>
        </p:spPr>
        <p:txBody>
          <a:bodyPr wrap="square" lIns="0" tIns="0" rIns="0" bIns="0" rtlCol="0" anchor="ctr"/>
          <a:lstStyle/>
          <a:p>
            <a:pPr indent="0" marL="0">
              <a:buNone/>
            </a:pPr>
            <a:r>
              <a:rPr lang="en-US" sz="1300" dirty="0">
                <a:solidFill>
                  <a:schemeClr val="tx1"/>
                </a:solidFill>
              </a:rPr>
              <a:t>estimated effort points</a:t>
            </a:r>
            <a:endParaRPr lang="en-US" sz="1300" dirty="0"/>
          </a:p>
        </p:txBody>
      </p:sp>
      <p:sp>
        <p:nvSpPr>
          <p:cNvPr id="8" name="Text 6"/>
          <p:cNvSpPr txBox="1"/>
          <p:nvPr/>
        </p:nvSpPr>
        <p:spPr>
          <a:xfrm>
            <a:off x="914400" y="3474720"/>
            <a:ext cx="1234440" cy="640080"/>
          </a:xfrm>
          <a:prstGeom prst="rect">
            <a:avLst/>
          </a:prstGeom>
          <a:noFill/>
          <a:ln/>
        </p:spPr>
        <p:txBody>
          <a:bodyPr wrap="square" lIns="0" tIns="0" rIns="0" bIns="0" rtlCol="0" anchor="ctr"/>
          <a:lstStyle/>
          <a:p>
            <a:pPr indent="0" marL="0">
              <a:buNone/>
            </a:pPr>
            <a:r>
              <a:rPr lang="en-US" sz="3400" b="1" dirty="0">
                <a:solidFill>
                  <a:schemeClr val="accent1"/>
                </a:solidFill>
                <a:latin typeface="Montserrat" pitchFamily="34" charset="0"/>
                <a:ea typeface="Montserrat" pitchFamily="34" charset="-122"/>
                <a:cs typeface="Montserrat" pitchFamily="34" charset="-120"/>
              </a:rPr>
              <a:t>5</a:t>
            </a:r>
            <a:endParaRPr lang="en-US" sz="3400" dirty="0"/>
          </a:p>
        </p:txBody>
      </p:sp>
      <p:sp>
        <p:nvSpPr>
          <p:cNvPr id="9" name="Text 7"/>
          <p:cNvSpPr txBox="1"/>
          <p:nvPr/>
        </p:nvSpPr>
        <p:spPr>
          <a:xfrm>
            <a:off x="2194560" y="3474720"/>
            <a:ext cx="2743200" cy="640080"/>
          </a:xfrm>
          <a:prstGeom prst="rect">
            <a:avLst/>
          </a:prstGeom>
          <a:noFill/>
          <a:ln/>
        </p:spPr>
        <p:txBody>
          <a:bodyPr wrap="square" lIns="0" tIns="0" rIns="0" bIns="0" rtlCol="0" anchor="ctr"/>
          <a:lstStyle/>
          <a:p>
            <a:pPr indent="0" marL="0">
              <a:buNone/>
            </a:pPr>
            <a:r>
              <a:rPr lang="en-US" sz="1300" dirty="0">
                <a:solidFill>
                  <a:schemeClr val="tx1"/>
                </a:solidFill>
              </a:rPr>
              <a:t>sprints planned (Sprint 3 to 7)</a:t>
            </a:r>
            <a:endParaRPr lang="en-US" sz="1300" dirty="0"/>
          </a:p>
        </p:txBody>
      </p:sp>
      <p:graphicFrame>
        <p:nvGraphicFramePr>
          <p:cNvPr id="10" name="effort-chart" descr=""/>
          <p:cNvGraphicFramePr/>
          <p:nvPr/>
        </p:nvGraphicFramePr>
        <p:xfrm>
          <a:off x="5212080" y="1783080"/>
          <a:ext cx="6035040" cy="2514600"/>
        </p:xfrm>
        <a:graphic xmlns:a="http://schemas.openxmlformats.org/drawingml/2006/main">
          <a:graphicData uri="http://schemas.openxmlformats.org/drawingml/2006/chart">
            <c:chart xmlns:c="http://schemas.openxmlformats.org/drawingml/2006/chart" r:id="rId1"/>
          </a:graphicData>
        </a:graphic>
      </p:graphicFrame>
      <p:sp>
        <p:nvSpPr>
          <p:cNvPr id="11" name="prio-chip-0"/>
          <p:cNvSpPr/>
          <p:nvPr/>
        </p:nvSpPr>
        <p:spPr>
          <a:xfrm>
            <a:off x="914400" y="4434840"/>
            <a:ext cx="1417320" cy="384048"/>
          </a:xfrm>
          <a:prstGeom prst="rect">
            <a:avLst/>
          </a:prstGeom>
          <a:solidFill>
            <a:srgbClr val="0E2841"/>
          </a:solidFill>
          <a:ln/>
        </p:spPr>
      </p:sp>
      <p:sp>
        <p:nvSpPr>
          <p:cNvPr id="12" name="Text 9"/>
          <p:cNvSpPr txBox="1"/>
          <p:nvPr/>
        </p:nvSpPr>
        <p:spPr>
          <a:xfrm>
            <a:off x="914400" y="443484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rPr>
              <a:t>Priority 5</a:t>
            </a:r>
            <a:endParaRPr lang="en-US" sz="1200" dirty="0"/>
          </a:p>
        </p:txBody>
      </p:sp>
      <p:sp>
        <p:nvSpPr>
          <p:cNvPr id="13" name="Text 10"/>
          <p:cNvSpPr txBox="1"/>
          <p:nvPr/>
        </p:nvSpPr>
        <p:spPr>
          <a:xfrm>
            <a:off x="2468880" y="4434840"/>
            <a:ext cx="8778240" cy="384048"/>
          </a:xfrm>
          <a:prstGeom prst="rect">
            <a:avLst/>
          </a:prstGeom>
          <a:noFill/>
          <a:ln/>
        </p:spPr>
        <p:txBody>
          <a:bodyPr wrap="square" lIns="0" tIns="0" rIns="0" bIns="0" rtlCol="0" anchor="ctr"/>
          <a:lstStyle/>
          <a:p>
            <a:pPr indent="0" marL="0">
              <a:buNone/>
            </a:pPr>
            <a:r>
              <a:rPr lang="en-US" sz="1300" b="1" dirty="0">
                <a:solidFill>
                  <a:schemeClr val="tx1"/>
                </a:solidFill>
              </a:rPr>
              <a:t>US1–US12   </a:t>
            </a:r>
            <a:pPr indent="0" marL="0">
              <a:buNone/>
            </a:pPr>
            <a:r>
              <a:rPr lang="en-US" sz="1300" dirty="0">
                <a:solidFill>
                  <a:schemeClr val="tx1"/>
                </a:solidFill>
              </a:rPr>
              <a:t>Generator, login, scope, map, inactivity, fuse and transformer colors · Sprints 3–4</a:t>
            </a:r>
            <a:endParaRPr lang="en-US" sz="1300" dirty="0"/>
          </a:p>
        </p:txBody>
      </p:sp>
      <p:sp>
        <p:nvSpPr>
          <p:cNvPr id="14" name="prio-chip-1"/>
          <p:cNvSpPr/>
          <p:nvPr/>
        </p:nvSpPr>
        <p:spPr>
          <a:xfrm>
            <a:off x="914400" y="4937760"/>
            <a:ext cx="1417320" cy="384048"/>
          </a:xfrm>
          <a:prstGeom prst="rect">
            <a:avLst/>
          </a:prstGeom>
          <a:solidFill>
            <a:srgbClr val="156082"/>
          </a:solidFill>
          <a:ln/>
        </p:spPr>
      </p:sp>
      <p:sp>
        <p:nvSpPr>
          <p:cNvPr id="15" name="Text 12"/>
          <p:cNvSpPr txBox="1"/>
          <p:nvPr/>
        </p:nvSpPr>
        <p:spPr>
          <a:xfrm>
            <a:off x="914400" y="493776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rPr>
              <a:t>Priority 4</a:t>
            </a:r>
            <a:endParaRPr lang="en-US" sz="1200" dirty="0"/>
          </a:p>
        </p:txBody>
      </p:sp>
      <p:sp>
        <p:nvSpPr>
          <p:cNvPr id="16" name="Text 13"/>
          <p:cNvSpPr txBox="1"/>
          <p:nvPr/>
        </p:nvSpPr>
        <p:spPr>
          <a:xfrm>
            <a:off x="2468880" y="4937760"/>
            <a:ext cx="8778240" cy="384048"/>
          </a:xfrm>
          <a:prstGeom prst="rect">
            <a:avLst/>
          </a:prstGeom>
          <a:noFill/>
          <a:ln/>
        </p:spPr>
        <p:txBody>
          <a:bodyPr wrap="square" lIns="0" tIns="0" rIns="0" bIns="0" rtlCol="0" anchor="ctr"/>
          <a:lstStyle/>
          <a:p>
            <a:pPr indent="0" marL="0">
              <a:buNone/>
            </a:pPr>
            <a:r>
              <a:rPr lang="en-US" sz="1300" b="1" dirty="0">
                <a:solidFill>
                  <a:schemeClr val="tx1"/>
                </a:solidFill>
              </a:rPr>
              <a:t>US13–US26   </a:t>
            </a:r>
            <a:pPr indent="0" marL="0">
              <a:buNone/>
            </a:pPr>
            <a:r>
              <a:rPr lang="en-US" sz="1300" dirty="0">
                <a:solidFill>
                  <a:schemeClr val="tx1"/>
                </a:solidFill>
              </a:rPr>
              <a:t>Filters, faults and alarms, user management, history, indicators, export · Sprints 5–7</a:t>
            </a:r>
            <a:endParaRPr lang="en-US" sz="1300" dirty="0"/>
          </a:p>
        </p:txBody>
      </p:sp>
      <p:sp>
        <p:nvSpPr>
          <p:cNvPr id="17" name="prio-chip-2"/>
          <p:cNvSpPr/>
          <p:nvPr/>
        </p:nvSpPr>
        <p:spPr>
          <a:xfrm>
            <a:off x="914400" y="5440680"/>
            <a:ext cx="1417320" cy="384048"/>
          </a:xfrm>
          <a:prstGeom prst="rect">
            <a:avLst/>
          </a:prstGeom>
          <a:solidFill>
            <a:srgbClr val="6B7280"/>
          </a:solidFill>
          <a:ln/>
        </p:spPr>
      </p:sp>
      <p:sp>
        <p:nvSpPr>
          <p:cNvPr id="18" name="Text 15"/>
          <p:cNvSpPr txBox="1"/>
          <p:nvPr/>
        </p:nvSpPr>
        <p:spPr>
          <a:xfrm>
            <a:off x="914400" y="544068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rPr>
              <a:t>Priority 3–2</a:t>
            </a:r>
            <a:endParaRPr lang="en-US" sz="1200" dirty="0"/>
          </a:p>
        </p:txBody>
      </p:sp>
      <p:sp>
        <p:nvSpPr>
          <p:cNvPr id="19" name="Text 16"/>
          <p:cNvSpPr txBox="1"/>
          <p:nvPr/>
        </p:nvSpPr>
        <p:spPr>
          <a:xfrm>
            <a:off x="2468880" y="5440680"/>
            <a:ext cx="8778240" cy="384048"/>
          </a:xfrm>
          <a:prstGeom prst="rect">
            <a:avLst/>
          </a:prstGeom>
          <a:noFill/>
          <a:ln/>
        </p:spPr>
        <p:txBody>
          <a:bodyPr wrap="square" lIns="0" tIns="0" rIns="0" bIns="0" rtlCol="0" anchor="ctr"/>
          <a:lstStyle/>
          <a:p>
            <a:pPr indent="0" marL="0">
              <a:buNone/>
            </a:pPr>
            <a:r>
              <a:rPr lang="en-US" sz="1300" b="1" dirty="0">
                <a:solidFill>
                  <a:schemeClr val="tx1"/>
                </a:solidFill>
              </a:rPr>
              <a:t>US27–US29   </a:t>
            </a:r>
            <a:pPr indent="0" marL="0">
              <a:buNone/>
            </a:pPr>
            <a:r>
              <a:rPr lang="en-US" sz="1300" dirty="0">
                <a:solidFill>
                  <a:schemeClr val="tx1"/>
                </a:solidFill>
              </a:rPr>
              <a:t>Alarm → map, momentary openings, Spanish chat (optional) · Sprint 7</a:t>
            </a:r>
            <a:endParaRPr lang="en-US" sz="13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INITIAL MOCKUPS (FIGMA)</a:t>
            </a:r>
            <a:endParaRPr lang="en-US" sz="3200" dirty="0"/>
          </a:p>
        </p:txBody>
      </p:sp>
      <p:sp>
        <p:nvSpPr>
          <p:cNvPr id="3" name="Text 1"/>
          <p:cNvSpPr txBox="1"/>
          <p:nvPr/>
        </p:nvSpPr>
        <p:spPr>
          <a:xfrm>
            <a:off x="914400" y="1481328"/>
            <a:ext cx="10332720" cy="320040"/>
          </a:xfrm>
          <a:prstGeom prst="rect">
            <a:avLst/>
          </a:prstGeom>
          <a:noFill/>
          <a:ln/>
        </p:spPr>
        <p:txBody>
          <a:bodyPr wrap="square" lIns="0" tIns="0" rIns="0" bIns="0" rtlCol="0" anchor="ctr"/>
          <a:lstStyle/>
          <a:p>
            <a:pPr indent="0" marL="0">
              <a:buNone/>
            </a:pPr>
            <a:r>
              <a:rPr lang="en-US" sz="1300" dirty="0">
                <a:solidFill>
                  <a:schemeClr val="tx1"/>
                </a:solidFill>
              </a:rPr>
              <a:t>COLBITS Mockups v3 · built from Colbits' reference screens and reviewed with the client.</a:t>
            </a:r>
            <a:endParaRPr lang="en-US" sz="1300" dirty="0"/>
          </a:p>
        </p:txBody>
      </p:sp>
      <p:pic>
        <p:nvPicPr>
          <p:cNvPr id="4" name="Image 0" descr="Live Grid Monitoring mockup: map with fuse layer, node detail panel and fault management list">    </p:cNvPr>
          <p:cNvPicPr>
            <a:picLocks noChangeAspect="1"/>
          </p:cNvPicPr>
          <p:nvPr/>
        </p:nvPicPr>
        <p:blipFill>
          <a:blip r:embed="rId1"/>
          <a:stretch>
            <a:fillRect/>
          </a:stretch>
        </p:blipFill>
        <p:spPr>
          <a:xfrm>
            <a:off x="914400" y="1874520"/>
            <a:ext cx="6309360" cy="3943350"/>
          </a:xfrm>
          <a:prstGeom prst="rect">
            <a:avLst/>
          </a:prstGeom>
        </p:spPr>
      </p:pic>
      <p:sp>
        <p:nvSpPr>
          <p:cNvPr id="5" name="hero-frame"/>
          <p:cNvSpPr/>
          <p:nvPr/>
        </p:nvSpPr>
        <p:spPr>
          <a:xfrm>
            <a:off x="914400" y="1874520"/>
            <a:ext cx="6309360" cy="3943350"/>
          </a:xfrm>
          <a:prstGeom prst="rect">
            <a:avLst/>
          </a:prstGeom>
          <a:ln w="9525">
            <a:solidFill>
              <a:srgbClr val="C9CED6"/>
            </a:solidFill>
            <a:prstDash val="solid"/>
          </a:ln>
        </p:spPr>
      </p:sp>
      <p:sp>
        <p:nvSpPr>
          <p:cNvPr id="6" name="Text 3"/>
          <p:cNvSpPr txBox="1"/>
          <p:nvPr/>
        </p:nvSpPr>
        <p:spPr>
          <a:xfrm>
            <a:off x="914400" y="5891022"/>
            <a:ext cx="6309360" cy="274320"/>
          </a:xfrm>
          <a:prstGeom prst="rect">
            <a:avLst/>
          </a:prstGeom>
          <a:noFill/>
          <a:ln/>
        </p:spPr>
        <p:txBody>
          <a:bodyPr wrap="square" lIns="0" tIns="0" rIns="0" bIns="0" rtlCol="0" anchor="ctr"/>
          <a:lstStyle/>
          <a:p>
            <a:pPr indent="0" marL="0">
              <a:buNone/>
            </a:pPr>
            <a:r>
              <a:rPr lang="en-US" sz="1200" b="1" dirty="0">
                <a:solidFill>
                  <a:schemeClr val="tx1"/>
                </a:solidFill>
              </a:rPr>
              <a:t>Live grid monitoring  </a:t>
            </a:r>
            <a:pPr indent="0" marL="0">
              <a:buNone/>
            </a:pPr>
            <a:r>
              <a:rPr lang="en-US" sz="1200" dirty="0">
                <a:solidFill>
                  <a:schemeClr val="tx1"/>
                </a:solidFill>
              </a:rPr>
              <a:t>fuse / transformer layers · node detail · faults by severity</a:t>
            </a:r>
            <a:endParaRPr lang="en-US" sz="1200" dirty="0"/>
          </a:p>
        </p:txBody>
      </p:sp>
      <p:pic>
        <p:nvPicPr>
          <p:cNvPr id="7" name="Image 1" descr="User management mockup with scope assignment">    </p:cNvPr>
          <p:cNvPicPr>
            <a:picLocks noChangeAspect="1"/>
          </p:cNvPicPr>
          <p:nvPr/>
        </p:nvPicPr>
        <p:blipFill>
          <a:blip r:embed="rId2"/>
          <a:stretch>
            <a:fillRect/>
          </a:stretch>
        </p:blipFill>
        <p:spPr>
          <a:xfrm>
            <a:off x="7452360" y="1874520"/>
            <a:ext cx="2011680" cy="1257300"/>
          </a:xfrm>
          <a:prstGeom prst="rect">
            <a:avLst/>
          </a:prstGeom>
        </p:spPr>
      </p:pic>
      <p:sp>
        <p:nvSpPr>
          <p:cNvPr id="8" name="thumb-frame-0"/>
          <p:cNvSpPr/>
          <p:nvPr/>
        </p:nvSpPr>
        <p:spPr>
          <a:xfrm>
            <a:off x="7452360" y="1874520"/>
            <a:ext cx="2011680" cy="1257300"/>
          </a:xfrm>
          <a:prstGeom prst="rect">
            <a:avLst/>
          </a:prstGeom>
          <a:ln w="9525">
            <a:solidFill>
              <a:srgbClr val="C9CED6"/>
            </a:solidFill>
            <a:prstDash val="solid"/>
          </a:ln>
        </p:spPr>
      </p:sp>
      <p:sp>
        <p:nvSpPr>
          <p:cNvPr id="9" name="Text 5"/>
          <p:cNvSpPr txBox="1"/>
          <p:nvPr/>
        </p:nvSpPr>
        <p:spPr>
          <a:xfrm>
            <a:off x="9601200" y="1874520"/>
            <a:ext cx="2350008" cy="1257300"/>
          </a:xfrm>
          <a:prstGeom prst="rect">
            <a:avLst/>
          </a:prstGeom>
          <a:noFill/>
          <a:ln/>
        </p:spPr>
        <p:txBody>
          <a:bodyPr wrap="square" lIns="0" tIns="0" rIns="0" bIns="0" rtlCol="0" anchor="ctr"/>
          <a:lstStyle/>
          <a:p>
            <a:pPr indent="0" marL="0">
              <a:buNone/>
            </a:pPr>
            <a:r>
              <a:rPr lang="en-US" sz="1300" b="1" dirty="0">
                <a:solidFill>
                  <a:schemeClr val="tx1"/>
                </a:solidFill>
              </a:rPr>
              <a:t>User management</a:t>
            </a:r>
            <a:endParaRPr lang="en-US" sz="1300" dirty="0"/>
          </a:p>
          <a:p>
            <a:pPr indent="0" marL="0">
              <a:buNone/>
            </a:pPr>
            <a:r>
              <a:rPr lang="en-US" sz="1150" dirty="0">
                <a:solidFill>
                  <a:schemeClr val="tx1"/>
                </a:solidFill>
              </a:rPr>
              <a:t>The admin creates consultation users and assigns their data scope</a:t>
            </a:r>
            <a:endParaRPr lang="en-US" sz="1300" dirty="0"/>
          </a:p>
        </p:txBody>
      </p:sp>
      <p:pic>
        <p:nvPicPr>
          <p:cNvPr id="10" name="Image 2" descr="Historical analysis mockup with KPIs and charts">    </p:cNvPr>
          <p:cNvPicPr>
            <a:picLocks noChangeAspect="1"/>
          </p:cNvPicPr>
          <p:nvPr/>
        </p:nvPicPr>
        <p:blipFill>
          <a:blip r:embed="rId3"/>
          <a:stretch>
            <a:fillRect/>
          </a:stretch>
        </p:blipFill>
        <p:spPr>
          <a:xfrm>
            <a:off x="7452360" y="3332988"/>
            <a:ext cx="2011680" cy="1257300"/>
          </a:xfrm>
          <a:prstGeom prst="rect">
            <a:avLst/>
          </a:prstGeom>
        </p:spPr>
      </p:pic>
      <p:sp>
        <p:nvSpPr>
          <p:cNvPr id="11" name="thumb-frame-1"/>
          <p:cNvSpPr/>
          <p:nvPr/>
        </p:nvSpPr>
        <p:spPr>
          <a:xfrm>
            <a:off x="7452360" y="3332988"/>
            <a:ext cx="2011680" cy="1257300"/>
          </a:xfrm>
          <a:prstGeom prst="rect">
            <a:avLst/>
          </a:prstGeom>
          <a:ln w="9525">
            <a:solidFill>
              <a:srgbClr val="C9CED6"/>
            </a:solidFill>
            <a:prstDash val="solid"/>
          </a:ln>
        </p:spPr>
      </p:sp>
      <p:sp>
        <p:nvSpPr>
          <p:cNvPr id="12" name="Text 7"/>
          <p:cNvSpPr txBox="1"/>
          <p:nvPr/>
        </p:nvSpPr>
        <p:spPr>
          <a:xfrm>
            <a:off x="9601200" y="3332988"/>
            <a:ext cx="2350008" cy="1257300"/>
          </a:xfrm>
          <a:prstGeom prst="rect">
            <a:avLst/>
          </a:prstGeom>
          <a:noFill/>
          <a:ln/>
        </p:spPr>
        <p:txBody>
          <a:bodyPr wrap="square" lIns="0" tIns="0" rIns="0" bIns="0" rtlCol="0" anchor="ctr"/>
          <a:lstStyle/>
          <a:p>
            <a:pPr indent="0" marL="0">
              <a:buNone/>
            </a:pPr>
            <a:r>
              <a:rPr lang="en-US" sz="1300" b="1" dirty="0">
                <a:solidFill>
                  <a:schemeClr val="tx1"/>
                </a:solidFill>
              </a:rPr>
              <a:t>Historical analysis</a:t>
            </a:r>
            <a:endParaRPr lang="en-US" sz="1300" dirty="0"/>
          </a:p>
          <a:p>
            <a:pPr indent="0" marL="0">
              <a:buNone/>
            </a:pPr>
            <a:r>
              <a:rPr lang="en-US" sz="1150" dirty="0">
                <a:solidFill>
                  <a:schemeClr val="tx1"/>
                </a:solidFill>
              </a:rPr>
              <a:t>Date presets, filters, KPIs, trends and rankings</a:t>
            </a:r>
            <a:endParaRPr lang="en-US" sz="1300" dirty="0"/>
          </a:p>
        </p:txBody>
      </p:sp>
      <p:pic>
        <p:nvPicPr>
          <p:cNvPr id="13" name="Image 3" descr="Export center mockup with PDF preview">    </p:cNvPr>
          <p:cNvPicPr>
            <a:picLocks noChangeAspect="1"/>
          </p:cNvPicPr>
          <p:nvPr/>
        </p:nvPicPr>
        <p:blipFill>
          <a:blip r:embed="rId4"/>
          <a:stretch>
            <a:fillRect/>
          </a:stretch>
        </p:blipFill>
        <p:spPr>
          <a:xfrm>
            <a:off x="7452360" y="4791456"/>
            <a:ext cx="2011680" cy="1257300"/>
          </a:xfrm>
          <a:prstGeom prst="rect">
            <a:avLst/>
          </a:prstGeom>
        </p:spPr>
      </p:pic>
      <p:sp>
        <p:nvSpPr>
          <p:cNvPr id="14" name="thumb-frame-2"/>
          <p:cNvSpPr/>
          <p:nvPr/>
        </p:nvSpPr>
        <p:spPr>
          <a:xfrm>
            <a:off x="7452360" y="4791456"/>
            <a:ext cx="2011680" cy="1257300"/>
          </a:xfrm>
          <a:prstGeom prst="rect">
            <a:avLst/>
          </a:prstGeom>
          <a:ln w="9525">
            <a:solidFill>
              <a:srgbClr val="C9CED6"/>
            </a:solidFill>
            <a:prstDash val="solid"/>
          </a:ln>
        </p:spPr>
      </p:sp>
      <p:sp>
        <p:nvSpPr>
          <p:cNvPr id="15" name="Text 9"/>
          <p:cNvSpPr txBox="1"/>
          <p:nvPr/>
        </p:nvSpPr>
        <p:spPr>
          <a:xfrm>
            <a:off x="9601200" y="4791456"/>
            <a:ext cx="2350008" cy="1257300"/>
          </a:xfrm>
          <a:prstGeom prst="rect">
            <a:avLst/>
          </a:prstGeom>
          <a:noFill/>
          <a:ln/>
        </p:spPr>
        <p:txBody>
          <a:bodyPr wrap="square" lIns="0" tIns="0" rIns="0" bIns="0" rtlCol="0" anchor="ctr"/>
          <a:lstStyle/>
          <a:p>
            <a:pPr indent="0" marL="0">
              <a:buNone/>
            </a:pPr>
            <a:r>
              <a:rPr lang="en-US" sz="1300" b="1" dirty="0">
                <a:solidFill>
                  <a:schemeClr val="tx1"/>
                </a:solidFill>
              </a:rPr>
              <a:t>Export center</a:t>
            </a:r>
            <a:endParaRPr lang="en-US" sz="1300" dirty="0"/>
          </a:p>
          <a:p>
            <a:pPr indent="0" marL="0">
              <a:buNone/>
            </a:pPr>
            <a:r>
              <a:rPr lang="en-US" sz="1150" dirty="0">
                <a:solidFill>
                  <a:schemeClr val="tx1"/>
                </a:solidFill>
              </a:rPr>
              <a:t>XLSX · CSV · PDF with the traceability header</a:t>
            </a:r>
            <a:endParaRPr lang="en-US" sz="13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SYSTEM DECOMPOSITION</a:t>
            </a:r>
            <a:endParaRPr lang="en-US" sz="3200" dirty="0"/>
          </a:p>
        </p:txBody>
      </p:sp>
      <p:pic>
        <p:nvPicPr>
          <p:cNvPr id="3" name="Image 0" descr="Component diagram of the COLBITS platform: web frontend, backend REST API with six feature components and three shared components, Colbits data, platform data, development database and synthetic data generator">    </p:cNvPr>
          <p:cNvPicPr>
            <a:picLocks noChangeAspect="1"/>
          </p:cNvPicPr>
          <p:nvPr/>
        </p:nvPicPr>
        <p:blipFill>
          <a:blip r:embed="rId1"/>
          <a:stretch>
            <a:fillRect/>
          </a:stretch>
        </p:blipFill>
        <p:spPr>
          <a:xfrm>
            <a:off x="548640" y="1554480"/>
            <a:ext cx="7448636" cy="4434840"/>
          </a:xfrm>
          <a:prstGeom prst="rect">
            <a:avLst/>
          </a:prstGeom>
        </p:spPr>
      </p:pic>
      <p:sp>
        <p:nvSpPr>
          <p:cNvPr id="4" name="decomp-side"/>
          <p:cNvSpPr/>
          <p:nvPr/>
        </p:nvSpPr>
        <p:spPr>
          <a:xfrm>
            <a:off x="8225876" y="1600200"/>
            <a:ext cx="3725332" cy="4343400"/>
          </a:xfrm>
          <a:prstGeom prst="rect">
            <a:avLst/>
          </a:prstGeom>
          <a:solidFill>
            <a:schemeClr val="bg2"/>
          </a:solidFill>
          <a:ln/>
        </p:spPr>
      </p:sp>
      <p:sp>
        <p:nvSpPr>
          <p:cNvPr id="5" name="Text 2"/>
          <p:cNvSpPr txBox="1"/>
          <p:nvPr/>
        </p:nvSpPr>
        <p:spPr>
          <a:xfrm>
            <a:off x="8408756" y="1737360"/>
            <a:ext cx="3359572" cy="274320"/>
          </a:xfrm>
          <a:prstGeom prst="rect">
            <a:avLst/>
          </a:prstGeom>
          <a:noFill/>
          <a:ln/>
        </p:spPr>
        <p:txBody>
          <a:bodyPr wrap="square" lIns="0" tIns="0" rIns="0" bIns="0" rtlCol="0" anchor="ctr"/>
          <a:lstStyle/>
          <a:p>
            <a:pPr indent="0" marL="0">
              <a:buNone/>
            </a:pPr>
            <a:r>
              <a:rPr lang="en-US" sz="1300" b="1" dirty="0">
                <a:solidFill>
                  <a:schemeClr val="tx1"/>
                </a:solidFill>
              </a:rPr>
              <a:t>Legend</a:t>
            </a:r>
            <a:endParaRPr lang="en-US" sz="1300" dirty="0"/>
          </a:p>
        </p:txBody>
      </p:sp>
      <p:sp>
        <p:nvSpPr>
          <p:cNvPr id="6" name="legend-swatch-0"/>
          <p:cNvSpPr/>
          <p:nvPr/>
        </p:nvSpPr>
        <p:spPr>
          <a:xfrm>
            <a:off x="8408756" y="2139696"/>
            <a:ext cx="237744" cy="182880"/>
          </a:xfrm>
          <a:prstGeom prst="rect">
            <a:avLst/>
          </a:prstGeom>
          <a:solidFill>
            <a:srgbClr val="6B6560"/>
          </a:solidFill>
          <a:ln/>
        </p:spPr>
      </p:sp>
      <p:sp>
        <p:nvSpPr>
          <p:cNvPr id="7" name="Text 4"/>
          <p:cNvSpPr txBox="1"/>
          <p:nvPr/>
        </p:nvSpPr>
        <p:spPr>
          <a:xfrm>
            <a:off x="8728796" y="2084832"/>
            <a:ext cx="3039532" cy="292608"/>
          </a:xfrm>
          <a:prstGeom prst="rect">
            <a:avLst/>
          </a:prstGeom>
          <a:noFill/>
          <a:ln/>
        </p:spPr>
        <p:txBody>
          <a:bodyPr wrap="square" lIns="0" tIns="0" rIns="0" bIns="0" rtlCol="0" anchor="ctr"/>
          <a:lstStyle/>
          <a:p>
            <a:pPr indent="0" marL="0">
              <a:buNone/>
            </a:pPr>
            <a:r>
              <a:rPr lang="en-US" sz="1200" dirty="0">
                <a:solidFill>
                  <a:schemeClr val="tx1"/>
                </a:solidFill>
              </a:rPr>
              <a:t>Colbits already has it</a:t>
            </a:r>
            <a:endParaRPr lang="en-US" sz="1200" dirty="0"/>
          </a:p>
        </p:txBody>
      </p:sp>
      <p:sp>
        <p:nvSpPr>
          <p:cNvPr id="8" name="legend-swatch-1"/>
          <p:cNvSpPr/>
          <p:nvPr/>
        </p:nvSpPr>
        <p:spPr>
          <a:xfrm>
            <a:off x="8408756" y="2487168"/>
            <a:ext cx="237744" cy="182880"/>
          </a:xfrm>
          <a:prstGeom prst="rect">
            <a:avLst/>
          </a:prstGeom>
          <a:solidFill>
            <a:srgbClr val="1F9E6E"/>
          </a:solidFill>
          <a:ln/>
        </p:spPr>
      </p:sp>
      <p:sp>
        <p:nvSpPr>
          <p:cNvPr id="9" name="Text 6"/>
          <p:cNvSpPr txBox="1"/>
          <p:nvPr/>
        </p:nvSpPr>
        <p:spPr>
          <a:xfrm>
            <a:off x="8728796" y="2432304"/>
            <a:ext cx="3039532" cy="292608"/>
          </a:xfrm>
          <a:prstGeom prst="rect">
            <a:avLst/>
          </a:prstGeom>
          <a:noFill/>
          <a:ln/>
        </p:spPr>
        <p:txBody>
          <a:bodyPr wrap="square" lIns="0" tIns="0" rIns="0" bIns="0" rtlCol="0" anchor="ctr"/>
          <a:lstStyle/>
          <a:p>
            <a:pPr indent="0" marL="0">
              <a:buNone/>
            </a:pPr>
            <a:r>
              <a:rPr lang="en-US" sz="1200" dirty="0">
                <a:solidFill>
                  <a:schemeClr val="tx1"/>
                </a:solidFill>
              </a:rPr>
              <a:t>We build it</a:t>
            </a:r>
            <a:endParaRPr lang="en-US" sz="1200" dirty="0"/>
          </a:p>
        </p:txBody>
      </p:sp>
      <p:sp>
        <p:nvSpPr>
          <p:cNvPr id="10" name="legend-swatch-2"/>
          <p:cNvSpPr/>
          <p:nvPr/>
        </p:nvSpPr>
        <p:spPr>
          <a:xfrm>
            <a:off x="8408756" y="2834640"/>
            <a:ext cx="237744" cy="182880"/>
          </a:xfrm>
          <a:prstGeom prst="rect">
            <a:avLst/>
          </a:prstGeom>
          <a:solidFill>
            <a:srgbClr val="A7D7BF"/>
          </a:solidFill>
          <a:ln/>
        </p:spPr>
      </p:sp>
      <p:sp>
        <p:nvSpPr>
          <p:cNvPr id="11" name="Text 8"/>
          <p:cNvSpPr txBox="1"/>
          <p:nvPr/>
        </p:nvSpPr>
        <p:spPr>
          <a:xfrm>
            <a:off x="8728796" y="2779776"/>
            <a:ext cx="3039532" cy="292608"/>
          </a:xfrm>
          <a:prstGeom prst="rect">
            <a:avLst/>
          </a:prstGeom>
          <a:noFill/>
          <a:ln/>
        </p:spPr>
        <p:txBody>
          <a:bodyPr wrap="square" lIns="0" tIns="0" rIns="0" bIns="0" rtlCol="0" anchor="ctr"/>
          <a:lstStyle/>
          <a:p>
            <a:pPr indent="0" marL="0">
              <a:buNone/>
            </a:pPr>
            <a:r>
              <a:rPr lang="en-US" sz="1200" dirty="0">
                <a:solidFill>
                  <a:schemeClr val="tx1"/>
                </a:solidFill>
              </a:rPr>
              <a:t>Optional (dashed)</a:t>
            </a:r>
            <a:endParaRPr lang="en-US" sz="1200" dirty="0"/>
          </a:p>
        </p:txBody>
      </p:sp>
      <p:sp>
        <p:nvSpPr>
          <p:cNvPr id="12" name="Text 9"/>
          <p:cNvSpPr txBox="1"/>
          <p:nvPr/>
        </p:nvSpPr>
        <p:spPr>
          <a:xfrm>
            <a:off x="8408756" y="3246120"/>
            <a:ext cx="3359572" cy="274320"/>
          </a:xfrm>
          <a:prstGeom prst="rect">
            <a:avLst/>
          </a:prstGeom>
          <a:noFill/>
          <a:ln/>
        </p:spPr>
        <p:txBody>
          <a:bodyPr wrap="square" lIns="0" tIns="0" rIns="0" bIns="0" rtlCol="0" anchor="ctr"/>
          <a:lstStyle/>
          <a:p>
            <a:pPr indent="0" marL="0">
              <a:buNone/>
            </a:pPr>
            <a:r>
              <a:rPr lang="en-US" sz="1300" b="1" dirty="0">
                <a:solidFill>
                  <a:schemeClr val="tx1"/>
                </a:solidFill>
              </a:rPr>
              <a:t>Key points</a:t>
            </a:r>
            <a:endParaRPr lang="en-US" sz="1300" dirty="0"/>
          </a:p>
        </p:txBody>
      </p:sp>
      <p:sp>
        <p:nvSpPr>
          <p:cNvPr id="13" name="Text 10"/>
          <p:cNvSpPr txBox="1"/>
          <p:nvPr/>
        </p:nvSpPr>
        <p:spPr>
          <a:xfrm>
            <a:off x="8363036" y="3566160"/>
            <a:ext cx="3451012" cy="2286000"/>
          </a:xfrm>
          <a:prstGeom prst="rect">
            <a:avLst/>
          </a:prstGeom>
          <a:noFill/>
          <a:ln/>
        </p:spPr>
        <p:txBody>
          <a:bodyPr wrap="square" lIns="0" tIns="0" rIns="0" bIns="0" rtlCol="0" anchor="t"/>
          <a:lstStyle/>
          <a:p>
            <a:pPr marL="139700" indent="-139700">
              <a:spcAft>
                <a:spcPts val="400"/>
              </a:spcAft>
              <a:buSzPct val="100000"/>
              <a:buChar char="•"/>
            </a:pPr>
            <a:r>
              <a:rPr lang="en-US" sz="1200" dirty="0">
                <a:solidFill>
                  <a:schemeClr val="tx1"/>
                </a:solidFill>
              </a:rPr>
              <a:t>Both roles use only the web frontend</a:t>
            </a:r>
            <a:endParaRPr lang="en-US" sz="1200" dirty="0"/>
          </a:p>
          <a:p>
            <a:pPr marL="139700" indent="-139700">
              <a:spcAft>
                <a:spcPts val="400"/>
              </a:spcAft>
              <a:buSzPct val="100000"/>
              <a:buChar char="•"/>
            </a:pPr>
            <a:r>
              <a:rPr lang="en-US" sz="1200" dirty="0">
                <a:solidFill>
                  <a:schemeClr val="tx1"/>
                </a:solidFill>
              </a:rPr>
              <a:t>6 feature components + 3 shared ones</a:t>
            </a:r>
            <a:endParaRPr lang="en-US" sz="1200" dirty="0"/>
          </a:p>
          <a:p>
            <a:pPr marL="139700" indent="-139700">
              <a:spcAft>
                <a:spcPts val="400"/>
              </a:spcAft>
              <a:buSzPct val="100000"/>
              <a:buChar char="•"/>
            </a:pPr>
            <a:r>
              <a:rPr lang="en-US" sz="1200" dirty="0">
                <a:solidFill>
                  <a:schemeClr val="tx1"/>
                </a:solidFill>
              </a:rPr>
              <a:t>Colbits data: read only</a:t>
            </a:r>
            <a:endParaRPr lang="en-US" sz="1200" dirty="0"/>
          </a:p>
          <a:p>
            <a:pPr marL="139700" indent="-139700">
              <a:spcAft>
                <a:spcPts val="400"/>
              </a:spcAft>
              <a:buSzPct val="100000"/>
              <a:buChar char="•"/>
            </a:pPr>
            <a:r>
              <a:rPr lang="en-US" sz="1200" dirty="0">
                <a:solidFill>
                  <a:schemeClr val="tx1"/>
                </a:solidFill>
              </a:rPr>
              <a:t>Our data: users, scope, faults, device history</a:t>
            </a:r>
            <a:endParaRPr lang="en-US" sz="1200" dirty="0"/>
          </a:p>
          <a:p>
            <a:pPr marL="139700" indent="-139700">
              <a:spcAft>
                <a:spcPts val="400"/>
              </a:spcAft>
              <a:buSzPct val="100000"/>
              <a:buChar char="•"/>
            </a:pPr>
            <a:r>
              <a:rPr lang="en-US" sz="1200" dirty="0">
                <a:solidFill>
                  <a:schemeClr val="tx1"/>
                </a:solidFill>
              </a:rPr>
              <a:t>Generator fills a separate dev / test DB</a:t>
            </a:r>
            <a:endParaRPr lang="en-US" sz="12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SEQUENCE 1 · SECURE LIVE MAP</a:t>
            </a:r>
            <a:endParaRPr lang="en-US" sz="3200" dirty="0"/>
          </a:p>
        </p:txBody>
      </p:sp>
      <p:pic>
        <p:nvPicPr>
          <p:cNvPr id="3" name="Image 0" descr="Sequence diagram: login with JWT, scoped live map request, read-only query to TimescaleDB, color evaluation and rendering on the Leaflet map">    </p:cNvPr>
          <p:cNvPicPr>
            <a:picLocks noChangeAspect="1"/>
          </p:cNvPicPr>
          <p:nvPr/>
        </p:nvPicPr>
        <p:blipFill>
          <a:blip r:embed="rId1"/>
          <a:stretch>
            <a:fillRect/>
          </a:stretch>
        </p:blipFill>
        <p:spPr>
          <a:xfrm>
            <a:off x="914400" y="1572768"/>
            <a:ext cx="6960478" cy="4389120"/>
          </a:xfrm>
          <a:prstGeom prst="rect">
            <a:avLst/>
          </a:prstGeom>
        </p:spPr>
      </p:pic>
      <p:sp>
        <p:nvSpPr>
          <p:cNvPr id="4" name="seq1-step-1"/>
          <p:cNvSpPr/>
          <p:nvPr/>
        </p:nvSpPr>
        <p:spPr>
          <a:xfrm>
            <a:off x="8149198" y="1645920"/>
            <a:ext cx="365760" cy="365760"/>
          </a:xfrm>
          <a:prstGeom prst="ellipse">
            <a:avLst/>
          </a:prstGeom>
          <a:solidFill>
            <a:schemeClr val="tx2"/>
          </a:solidFill>
          <a:ln/>
        </p:spPr>
      </p:sp>
      <p:sp>
        <p:nvSpPr>
          <p:cNvPr id="5" name="Text 2"/>
          <p:cNvSpPr txBox="1"/>
          <p:nvPr/>
        </p:nvSpPr>
        <p:spPr>
          <a:xfrm>
            <a:off x="8149198" y="1645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Text 3"/>
          <p:cNvSpPr txBox="1"/>
          <p:nvPr/>
        </p:nvSpPr>
        <p:spPr>
          <a:xfrm>
            <a:off x="8624686" y="1609344"/>
            <a:ext cx="3326522" cy="777240"/>
          </a:xfrm>
          <a:prstGeom prst="rect">
            <a:avLst/>
          </a:prstGeom>
          <a:noFill/>
          <a:ln/>
        </p:spPr>
        <p:txBody>
          <a:bodyPr wrap="square" lIns="0" tIns="0" rIns="0" bIns="0" rtlCol="0" anchor="t"/>
          <a:lstStyle/>
          <a:p>
            <a:pPr indent="0" marL="0">
              <a:buNone/>
            </a:pPr>
            <a:r>
              <a:rPr lang="en-US" sz="1200" b="1" dirty="0">
                <a:solidFill>
                  <a:schemeClr val="tx1"/>
                </a:solidFill>
              </a:rPr>
              <a:t>Login</a:t>
            </a:r>
            <a:endParaRPr lang="en-US" sz="1200" dirty="0"/>
          </a:p>
          <a:p>
            <a:pPr indent="0" marL="0">
              <a:buNone/>
            </a:pPr>
            <a:r>
              <a:rPr lang="en-US" sz="1200" dirty="0">
                <a:solidFill>
                  <a:schemeClr val="tx1"/>
                </a:solidFill>
              </a:rPr>
              <a:t>password hash checked; JWT with role and scope</a:t>
            </a:r>
            <a:endParaRPr lang="en-US" sz="1200" dirty="0"/>
          </a:p>
        </p:txBody>
      </p:sp>
      <p:sp>
        <p:nvSpPr>
          <p:cNvPr id="7" name="seq1-step-2"/>
          <p:cNvSpPr/>
          <p:nvPr/>
        </p:nvSpPr>
        <p:spPr>
          <a:xfrm>
            <a:off x="8149198" y="2505456"/>
            <a:ext cx="365760" cy="365760"/>
          </a:xfrm>
          <a:prstGeom prst="ellipse">
            <a:avLst/>
          </a:prstGeom>
          <a:solidFill>
            <a:schemeClr val="tx2"/>
          </a:solidFill>
          <a:ln/>
        </p:spPr>
      </p:sp>
      <p:sp>
        <p:nvSpPr>
          <p:cNvPr id="8" name="Text 5"/>
          <p:cNvSpPr txBox="1"/>
          <p:nvPr/>
        </p:nvSpPr>
        <p:spPr>
          <a:xfrm>
            <a:off x="8149198" y="25054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Text 6"/>
          <p:cNvSpPr txBox="1"/>
          <p:nvPr/>
        </p:nvSpPr>
        <p:spPr>
          <a:xfrm>
            <a:off x="8624686" y="2468880"/>
            <a:ext cx="3326522" cy="777240"/>
          </a:xfrm>
          <a:prstGeom prst="rect">
            <a:avLst/>
          </a:prstGeom>
          <a:noFill/>
          <a:ln/>
        </p:spPr>
        <p:txBody>
          <a:bodyPr wrap="square" lIns="0" tIns="0" rIns="0" bIns="0" rtlCol="0" anchor="t"/>
          <a:lstStyle/>
          <a:p>
            <a:pPr indent="0" marL="0">
              <a:buNone/>
            </a:pPr>
            <a:r>
              <a:rPr lang="en-US" sz="1200" b="1" dirty="0">
                <a:solidFill>
                  <a:schemeClr val="tx1"/>
                </a:solidFill>
              </a:rPr>
              <a:t>Scoped request</a:t>
            </a:r>
            <a:endParaRPr lang="en-US" sz="1200" dirty="0"/>
          </a:p>
          <a:p>
            <a:pPr indent="0" marL="0">
              <a:buNone/>
            </a:pPr>
            <a:r>
              <a:rPr lang="en-US" sz="1200" dirty="0">
                <a:solidFill>
                  <a:schemeClr val="tx1"/>
                </a:solidFill>
              </a:rPr>
              <a:t>every call carries the token</a:t>
            </a:r>
            <a:endParaRPr lang="en-US" sz="1200" dirty="0"/>
          </a:p>
        </p:txBody>
      </p:sp>
      <p:sp>
        <p:nvSpPr>
          <p:cNvPr id="10" name="seq1-step-3"/>
          <p:cNvSpPr/>
          <p:nvPr/>
        </p:nvSpPr>
        <p:spPr>
          <a:xfrm>
            <a:off x="8149198" y="3364992"/>
            <a:ext cx="365760" cy="365760"/>
          </a:xfrm>
          <a:prstGeom prst="ellipse">
            <a:avLst/>
          </a:prstGeom>
          <a:solidFill>
            <a:schemeClr val="tx2"/>
          </a:solidFill>
          <a:ln/>
        </p:spPr>
      </p:sp>
      <p:sp>
        <p:nvSpPr>
          <p:cNvPr id="11" name="Text 8"/>
          <p:cNvSpPr txBox="1"/>
          <p:nvPr/>
        </p:nvSpPr>
        <p:spPr>
          <a:xfrm>
            <a:off x="8149198" y="33649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2" name="Text 9"/>
          <p:cNvSpPr txBox="1"/>
          <p:nvPr/>
        </p:nvSpPr>
        <p:spPr>
          <a:xfrm>
            <a:off x="8624686" y="3328416"/>
            <a:ext cx="3326522" cy="777240"/>
          </a:xfrm>
          <a:prstGeom prst="rect">
            <a:avLst/>
          </a:prstGeom>
          <a:noFill/>
          <a:ln/>
        </p:spPr>
        <p:txBody>
          <a:bodyPr wrap="square" lIns="0" tIns="0" rIns="0" bIns="0" rtlCol="0" anchor="t"/>
          <a:lstStyle/>
          <a:p>
            <a:pPr indent="0" marL="0">
              <a:buNone/>
            </a:pPr>
            <a:r>
              <a:rPr lang="en-US" sz="1200" b="1" dirty="0">
                <a:solidFill>
                  <a:schemeClr val="tx1"/>
                </a:solidFill>
              </a:rPr>
              <a:t>Scope filter</a:t>
            </a:r>
            <a:endParaRPr lang="en-US" sz="1200" dirty="0"/>
          </a:p>
          <a:p>
            <a:pPr indent="0" marL="0">
              <a:buNone/>
            </a:pPr>
            <a:r>
              <a:rPr lang="en-US" sz="1200" dirty="0">
                <a:solidFill>
                  <a:schemeClr val="tx1"/>
                </a:solidFill>
              </a:rPr>
              <a:t>applied on the server, before any query</a:t>
            </a:r>
            <a:endParaRPr lang="en-US" sz="1200" dirty="0"/>
          </a:p>
        </p:txBody>
      </p:sp>
      <p:sp>
        <p:nvSpPr>
          <p:cNvPr id="13" name="seq1-step-4"/>
          <p:cNvSpPr/>
          <p:nvPr/>
        </p:nvSpPr>
        <p:spPr>
          <a:xfrm>
            <a:off x="8149198" y="4224528"/>
            <a:ext cx="365760" cy="365760"/>
          </a:xfrm>
          <a:prstGeom prst="ellipse">
            <a:avLst/>
          </a:prstGeom>
          <a:solidFill>
            <a:schemeClr val="tx2"/>
          </a:solidFill>
          <a:ln/>
        </p:spPr>
      </p:sp>
      <p:sp>
        <p:nvSpPr>
          <p:cNvPr id="14" name="Text 11"/>
          <p:cNvSpPr txBox="1"/>
          <p:nvPr/>
        </p:nvSpPr>
        <p:spPr>
          <a:xfrm>
            <a:off x="8149198" y="4224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5" name="Text 12"/>
          <p:cNvSpPr txBox="1"/>
          <p:nvPr/>
        </p:nvSpPr>
        <p:spPr>
          <a:xfrm>
            <a:off x="8624686" y="4187952"/>
            <a:ext cx="3326522" cy="777240"/>
          </a:xfrm>
          <a:prstGeom prst="rect">
            <a:avLst/>
          </a:prstGeom>
          <a:noFill/>
          <a:ln/>
        </p:spPr>
        <p:txBody>
          <a:bodyPr wrap="square" lIns="0" tIns="0" rIns="0" bIns="0" rtlCol="0" anchor="t"/>
          <a:lstStyle/>
          <a:p>
            <a:pPr indent="0" marL="0">
              <a:buNone/>
            </a:pPr>
            <a:r>
              <a:rPr lang="en-US" sz="1200" b="1" dirty="0">
                <a:solidFill>
                  <a:schemeClr val="tx1"/>
                </a:solidFill>
              </a:rPr>
              <a:t>Read-only query</a:t>
            </a:r>
            <a:endParaRPr lang="en-US" sz="1200" dirty="0"/>
          </a:p>
          <a:p>
            <a:pPr indent="0" marL="0">
              <a:buNone/>
            </a:pPr>
            <a:r>
              <a:rPr lang="en-US" sz="1200" dirty="0">
                <a:solidFill>
                  <a:schemeClr val="tx1"/>
                </a:solidFill>
              </a:rPr>
              <a:t>latest Falcon &amp; SMAC telemetry</a:t>
            </a:r>
            <a:endParaRPr lang="en-US" sz="1200" dirty="0"/>
          </a:p>
        </p:txBody>
      </p:sp>
      <p:sp>
        <p:nvSpPr>
          <p:cNvPr id="16" name="seq1-step-5"/>
          <p:cNvSpPr/>
          <p:nvPr/>
        </p:nvSpPr>
        <p:spPr>
          <a:xfrm>
            <a:off x="8149198" y="5084064"/>
            <a:ext cx="365760" cy="365760"/>
          </a:xfrm>
          <a:prstGeom prst="ellipse">
            <a:avLst/>
          </a:prstGeom>
          <a:solidFill>
            <a:schemeClr val="tx2"/>
          </a:solidFill>
          <a:ln/>
        </p:spPr>
      </p:sp>
      <p:sp>
        <p:nvSpPr>
          <p:cNvPr id="17" name="Text 14"/>
          <p:cNvSpPr txBox="1"/>
          <p:nvPr/>
        </p:nvSpPr>
        <p:spPr>
          <a:xfrm>
            <a:off x="8149198" y="50840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18" name="Text 15"/>
          <p:cNvSpPr txBox="1"/>
          <p:nvPr/>
        </p:nvSpPr>
        <p:spPr>
          <a:xfrm>
            <a:off x="8624686" y="5047488"/>
            <a:ext cx="3326522" cy="777240"/>
          </a:xfrm>
          <a:prstGeom prst="rect">
            <a:avLst/>
          </a:prstGeom>
          <a:noFill/>
          <a:ln/>
        </p:spPr>
        <p:txBody>
          <a:bodyPr wrap="square" lIns="0" tIns="0" rIns="0" bIns="0" rtlCol="0" anchor="t"/>
          <a:lstStyle/>
          <a:p>
            <a:pPr indent="0" marL="0">
              <a:buNone/>
            </a:pPr>
            <a:r>
              <a:rPr lang="en-US" sz="1200" b="1" dirty="0">
                <a:solidFill>
                  <a:schemeClr val="tx1"/>
                </a:solidFill>
              </a:rPr>
              <a:t>Node colors</a:t>
            </a:r>
            <a:endParaRPr lang="en-US" sz="1200" dirty="0"/>
          </a:p>
          <a:p>
            <a:pPr indent="0" marL="0">
              <a:buNone/>
            </a:pPr>
            <a:r>
              <a:rPr lang="en-US" sz="1200" dirty="0">
                <a:solidFill>
                  <a:schemeClr val="tx1"/>
                </a:solidFill>
              </a:rPr>
              <a:t>computed in the API, drawn on the map</a:t>
            </a:r>
            <a:endParaRPr lang="en-US" sz="12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SEQUENCE 2 · FAULTS &amp; REPORTS</a:t>
            </a:r>
            <a:endParaRPr lang="en-US" sz="3200" dirty="0"/>
          </a:p>
        </p:txBody>
      </p:sp>
      <p:pic>
        <p:nvPicPr>
          <p:cNvPr id="3" name="Image 0" descr="Sequence diagram: background fault engine polls Colbits TimescaleDB read-only and writes grouped faults to the platform database; operator requests history and exports a PDF or XLSX report">    </p:cNvPr>
          <p:cNvPicPr>
            <a:picLocks noChangeAspect="1"/>
          </p:cNvPicPr>
          <p:nvPr/>
        </p:nvPicPr>
        <p:blipFill>
          <a:blip r:embed="rId1"/>
          <a:stretch>
            <a:fillRect/>
          </a:stretch>
        </p:blipFill>
        <p:spPr>
          <a:xfrm>
            <a:off x="1456915" y="1572768"/>
            <a:ext cx="9275122" cy="4389120"/>
          </a:xfrm>
          <a:prstGeom prst="rect">
            <a:avLst/>
          </a:prstGeom>
        </p:spPr>
      </p:pic>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KEY ARCHITECTURAL DECISIONS</a:t>
            </a:r>
            <a:endParaRPr lang="en-US" sz="3200" dirty="0"/>
          </a:p>
        </p:txBody>
      </p:sp>
      <p:graphicFrame>
        <p:nvGraphicFramePr>
          <p:cNvPr id="8" name="decisions-table"/>
          <p:cNvGraphicFramePr>
            <a:graphicFrameLocks noGrp="1"/>
          </p:cNvGraphicFramePr>
          <p:nvPr>
            <p:extLst>
              <p:ext uri="{D42A27DB-BD31-4B8C-83A1-F6EECF244321}">
                <p14:modId xmlns:p14="http://schemas.microsoft.com/office/powerpoint/2010/main" val="1579011935"/>
              </p:ext>
            </p:extLst>
          </p:nvPr>
        </p:nvGraphicFramePr>
        <p:xfrm>
          <a:off x="914400" y="1600200"/>
          <a:ext cx="10881360" cy="914400"/>
        </p:xfrm>
        <a:graphic>
          <a:graphicData uri="http://schemas.openxmlformats.org/drawingml/2006/table">
            <a:tbl>
              <a:tblPr/>
              <a:tblGrid>
                <a:gridCol w="3749040"/>
                <a:gridCol w="4572000"/>
                <a:gridCol w="2560320"/>
              </a:tblGrid>
              <a:tr h="566928">
                <a:tc>
                  <a:txBody>
                    <a:bodyPr/>
                    <a:lstStyle/>
                    <a:p>
                      <a:pPr indent="0" marL="0">
                        <a:buNone/>
                      </a:pPr>
                      <a:r>
                        <a:rPr lang="en-US" sz="1250" b="1" dirty="0">
                          <a:solidFill>
                            <a:srgbClr val="FFFFFF"/>
                          </a:solidFill>
                          <a:latin typeface="Aptos" pitchFamily="34" charset="0"/>
                          <a:ea typeface="Aptos" pitchFamily="34" charset="-122"/>
                          <a:cs typeface="Aptos" pitchFamily="34" charset="-120"/>
                        </a:rPr>
                        <a:t>Decision</a:t>
                      </a:r>
                      <a:endParaRPr lang="en-US" sz="125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2841"/>
                    </a:solidFill>
                  </a:tcPr>
                </a:tc>
                <a:tc>
                  <a:txBody>
                    <a:bodyPr/>
                    <a:lstStyle/>
                    <a:p>
                      <a:pPr indent="0" marL="0">
                        <a:buNone/>
                      </a:pPr>
                      <a:r>
                        <a:rPr lang="en-US" sz="1250" b="1" dirty="0">
                          <a:solidFill>
                            <a:srgbClr val="FFFFFF"/>
                          </a:solidFill>
                          <a:latin typeface="Aptos" pitchFamily="34" charset="0"/>
                          <a:ea typeface="Aptos" pitchFamily="34" charset="-122"/>
                          <a:cs typeface="Aptos" pitchFamily="34" charset="-120"/>
                        </a:rPr>
                        <a:t>Why</a:t>
                      </a:r>
                      <a:endParaRPr lang="en-US" sz="125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2841"/>
                    </a:solidFill>
                  </a:tcPr>
                </a:tc>
                <a:tc>
                  <a:txBody>
                    <a:bodyPr/>
                    <a:lstStyle/>
                    <a:p>
                      <a:pPr indent="0" marL="0">
                        <a:buNone/>
                      </a:pPr>
                      <a:r>
                        <a:rPr lang="en-US" sz="1250" b="1" dirty="0">
                          <a:solidFill>
                            <a:srgbClr val="FFFFFF"/>
                          </a:solidFill>
                          <a:latin typeface="Aptos" pitchFamily="34" charset="0"/>
                          <a:ea typeface="Aptos" pitchFamily="34" charset="-122"/>
                          <a:cs typeface="Aptos" pitchFamily="34" charset="-120"/>
                        </a:rPr>
                        <a:t>Rejected alternative</a:t>
                      </a:r>
                      <a:endParaRPr lang="en-US" sz="125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2841"/>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Modular monolith: one REST API with feature modules</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6 part-time devs, 14 weeks: one deploy, one test suite; modules mirror the diagram</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Microservices</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Colbits data read-only; our state in a separate schema</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Production stays untouched (NF-03); enforced by a SELECT-only DB role</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New tables or columns in Colbits' schema</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Scope enforced once, on the server, in the data-access layer</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No leak through counts or totals (RF-SEG-08); one place to test (NF-14)</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Filtering per endpoint or in the frontend</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One fault rule, run by a background engine</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Same numbers on map, list, history, export and chat; fast queries (NF-02)</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Recomputing faults on every request</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Live map by short polling (≤ 10 s)</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Meets the 20 s target simply; easy "last refresh" warning (RF-MAP-11)</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WebSockets / SSE (revisit if needed)</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Seeded generator + Docker + CI from day one</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Reproducible dev and tests without real data (NF-16, NF-18)</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Testing on the shared DB copy</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OPEN TECHNICAL CONCERNS</a:t>
            </a:r>
            <a:endParaRPr lang="en-US" sz="3200" dirty="0"/>
          </a:p>
        </p:txBody>
      </p:sp>
      <p:sp>
        <p:nvSpPr>
          <p:cNvPr id="3" name="concern-0"/>
          <p:cNvSpPr/>
          <p:nvPr/>
        </p:nvSpPr>
        <p:spPr>
          <a:xfrm>
            <a:off x="914400" y="1645920"/>
            <a:ext cx="5349240" cy="2011680"/>
          </a:xfrm>
          <a:prstGeom prst="rect">
            <a:avLst/>
          </a:prstGeom>
          <a:solidFill>
            <a:schemeClr val="bg2"/>
          </a:solidFill>
          <a:ln/>
        </p:spPr>
      </p:sp>
      <p:sp>
        <p:nvSpPr>
          <p:cNvPr id="4" name="concern-dot-0"/>
          <p:cNvSpPr/>
          <p:nvPr/>
        </p:nvSpPr>
        <p:spPr>
          <a:xfrm>
            <a:off x="1143000" y="1892808"/>
            <a:ext cx="411480" cy="411480"/>
          </a:xfrm>
          <a:prstGeom prst="ellipse">
            <a:avLst/>
          </a:prstGeom>
          <a:solidFill>
            <a:schemeClr val="accent2"/>
          </a:solidFill>
          <a:ln/>
        </p:spPr>
      </p:sp>
      <p:sp>
        <p:nvSpPr>
          <p:cNvPr id="5" name="Text 3"/>
          <p:cNvSpPr txBox="1"/>
          <p:nvPr/>
        </p:nvSpPr>
        <p:spPr>
          <a:xfrm>
            <a:off x="1143000" y="189280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737360" y="1847088"/>
            <a:ext cx="4297680" cy="502920"/>
          </a:xfrm>
          <a:prstGeom prst="rect">
            <a:avLst/>
          </a:prstGeom>
          <a:noFill/>
          <a:ln/>
        </p:spPr>
        <p:txBody>
          <a:bodyPr wrap="square" lIns="0" tIns="0" rIns="0" bIns="0" rtlCol="0" anchor="ctr"/>
          <a:lstStyle/>
          <a:p>
            <a:pPr indent="0" marL="0">
              <a:buNone/>
            </a:pPr>
            <a:r>
              <a:rPr lang="en-US" sz="1500" b="1" dirty="0">
                <a:solidFill>
                  <a:schemeClr val="tx1"/>
                </a:solidFill>
              </a:rPr>
              <a:t>Performance on a database we cannot change</a:t>
            </a:r>
            <a:endParaRPr lang="en-US" sz="1500" dirty="0"/>
          </a:p>
        </p:txBody>
      </p:sp>
      <p:sp>
        <p:nvSpPr>
          <p:cNvPr id="7" name="Text 5"/>
          <p:cNvSpPr txBox="1"/>
          <p:nvPr/>
        </p:nvSpPr>
        <p:spPr>
          <a:xfrm>
            <a:off x="1737360" y="2468880"/>
            <a:ext cx="4297680" cy="1051560"/>
          </a:xfrm>
          <a:prstGeom prst="rect">
            <a:avLst/>
          </a:prstGeom>
          <a:noFill/>
          <a:ln/>
        </p:spPr>
        <p:txBody>
          <a:bodyPr wrap="square" lIns="0" tIns="0" rIns="0" bIns="0" rtlCol="0" anchor="t"/>
          <a:lstStyle/>
          <a:p>
            <a:pPr indent="0" marL="0">
              <a:buNone/>
            </a:pPr>
            <a:r>
              <a:rPr lang="en-US" sz="1300" dirty="0">
                <a:solidFill>
                  <a:schemeClr val="tx1"/>
                </a:solidFill>
              </a:rPr>
              <a:t>No new indexes or aggregates in Colbits' DB → pre-aggregate in our schema; load-test NF-02 early</a:t>
            </a:r>
            <a:endParaRPr lang="en-US" sz="1300" dirty="0"/>
          </a:p>
        </p:txBody>
      </p:sp>
      <p:sp>
        <p:nvSpPr>
          <p:cNvPr id="8" name="concern-1"/>
          <p:cNvSpPr/>
          <p:nvPr/>
        </p:nvSpPr>
        <p:spPr>
          <a:xfrm>
            <a:off x="6446520" y="1645920"/>
            <a:ext cx="5349240" cy="2011680"/>
          </a:xfrm>
          <a:prstGeom prst="rect">
            <a:avLst/>
          </a:prstGeom>
          <a:solidFill>
            <a:schemeClr val="bg2"/>
          </a:solidFill>
          <a:ln/>
        </p:spPr>
      </p:sp>
      <p:sp>
        <p:nvSpPr>
          <p:cNvPr id="9" name="concern-dot-1"/>
          <p:cNvSpPr/>
          <p:nvPr/>
        </p:nvSpPr>
        <p:spPr>
          <a:xfrm>
            <a:off x="6675120" y="1892808"/>
            <a:ext cx="411480" cy="411480"/>
          </a:xfrm>
          <a:prstGeom prst="ellipse">
            <a:avLst/>
          </a:prstGeom>
          <a:solidFill>
            <a:schemeClr val="accent2"/>
          </a:solidFill>
          <a:ln/>
        </p:spPr>
      </p:sp>
      <p:sp>
        <p:nvSpPr>
          <p:cNvPr id="10" name="Text 8"/>
          <p:cNvSpPr txBox="1"/>
          <p:nvPr/>
        </p:nvSpPr>
        <p:spPr>
          <a:xfrm>
            <a:off x="6675120" y="189280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7269480" y="1847088"/>
            <a:ext cx="4297680" cy="502920"/>
          </a:xfrm>
          <a:prstGeom prst="rect">
            <a:avLst/>
          </a:prstGeom>
          <a:noFill/>
          <a:ln/>
        </p:spPr>
        <p:txBody>
          <a:bodyPr wrap="square" lIns="0" tIns="0" rIns="0" bIns="0" rtlCol="0" anchor="ctr"/>
          <a:lstStyle/>
          <a:p>
            <a:pPr indent="0" marL="0">
              <a:buNone/>
            </a:pPr>
            <a:r>
              <a:rPr lang="en-US" sz="1500" b="1" dirty="0">
                <a:solidFill>
                  <a:schemeClr val="tx1"/>
                </a:solidFill>
              </a:rPr>
              <a:t>Real-data quirks</a:t>
            </a:r>
            <a:endParaRPr lang="en-US" sz="1500" dirty="0"/>
          </a:p>
        </p:txBody>
      </p:sp>
      <p:sp>
        <p:nvSpPr>
          <p:cNvPr id="12" name="Text 10"/>
          <p:cNvSpPr txBox="1"/>
          <p:nvPr/>
        </p:nvSpPr>
        <p:spPr>
          <a:xfrm>
            <a:off x="7269480" y="2468880"/>
            <a:ext cx="4297680" cy="1051560"/>
          </a:xfrm>
          <a:prstGeom prst="rect">
            <a:avLst/>
          </a:prstGeom>
          <a:noFill/>
          <a:ln/>
        </p:spPr>
        <p:txBody>
          <a:bodyPr wrap="square" lIns="0" tIns="0" rIns="0" bIns="0" rtlCol="0" anchor="t"/>
          <a:lstStyle/>
          <a:p>
            <a:pPr indent="0" marL="0">
              <a:buNone/>
            </a:pPr>
            <a:r>
              <a:rPr lang="en-US" sz="1300" dirty="0">
                <a:solidFill>
                  <a:schemeClr val="tx1"/>
                </a:solidFill>
              </a:rPr>
              <a:t>SMAC readings split over 3 tables (time-tolerance join); legacy repetition fuse IDs the generator does not produce</a:t>
            </a:r>
            <a:endParaRPr lang="en-US" sz="1300" dirty="0"/>
          </a:p>
        </p:txBody>
      </p:sp>
      <p:sp>
        <p:nvSpPr>
          <p:cNvPr id="13" name="concern-2"/>
          <p:cNvSpPr/>
          <p:nvPr/>
        </p:nvSpPr>
        <p:spPr>
          <a:xfrm>
            <a:off x="914400" y="3840480"/>
            <a:ext cx="5349240" cy="2011680"/>
          </a:xfrm>
          <a:prstGeom prst="rect">
            <a:avLst/>
          </a:prstGeom>
          <a:solidFill>
            <a:schemeClr val="bg2"/>
          </a:solidFill>
          <a:ln/>
        </p:spPr>
      </p:sp>
      <p:sp>
        <p:nvSpPr>
          <p:cNvPr id="14" name="concern-dot-2"/>
          <p:cNvSpPr/>
          <p:nvPr/>
        </p:nvSpPr>
        <p:spPr>
          <a:xfrm>
            <a:off x="1143000" y="4087368"/>
            <a:ext cx="411480" cy="411480"/>
          </a:xfrm>
          <a:prstGeom prst="ellipse">
            <a:avLst/>
          </a:prstGeom>
          <a:solidFill>
            <a:schemeClr val="accent2"/>
          </a:solidFill>
          <a:ln/>
        </p:spPr>
      </p:sp>
      <p:sp>
        <p:nvSpPr>
          <p:cNvPr id="15" name="Text 13"/>
          <p:cNvSpPr txBox="1"/>
          <p:nvPr/>
        </p:nvSpPr>
        <p:spPr>
          <a:xfrm>
            <a:off x="1143000" y="408736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6" name="Text 14"/>
          <p:cNvSpPr txBox="1"/>
          <p:nvPr/>
        </p:nvSpPr>
        <p:spPr>
          <a:xfrm>
            <a:off x="1737360" y="4041648"/>
            <a:ext cx="4297680" cy="502920"/>
          </a:xfrm>
          <a:prstGeom prst="rect">
            <a:avLst/>
          </a:prstGeom>
          <a:noFill/>
          <a:ln/>
        </p:spPr>
        <p:txBody>
          <a:bodyPr wrap="square" lIns="0" tIns="0" rIns="0" bIns="0" rtlCol="0" anchor="ctr"/>
          <a:lstStyle/>
          <a:p>
            <a:pPr indent="0" marL="0">
              <a:buNone/>
            </a:pPr>
            <a:r>
              <a:rPr lang="en-US" sz="1500" b="1" dirty="0">
                <a:solidFill>
                  <a:schemeClr val="tx1"/>
                </a:solidFill>
              </a:rPr>
              <a:t>End-to-end 20 s latency</a:t>
            </a:r>
            <a:endParaRPr lang="en-US" sz="1500" dirty="0"/>
          </a:p>
        </p:txBody>
      </p:sp>
      <p:sp>
        <p:nvSpPr>
          <p:cNvPr id="17" name="Text 15"/>
          <p:cNvSpPr txBox="1"/>
          <p:nvPr/>
        </p:nvSpPr>
        <p:spPr>
          <a:xfrm>
            <a:off x="1737360" y="4663440"/>
            <a:ext cx="4297680" cy="1051560"/>
          </a:xfrm>
          <a:prstGeom prst="rect">
            <a:avLst/>
          </a:prstGeom>
          <a:noFill/>
          <a:ln/>
        </p:spPr>
        <p:txBody>
          <a:bodyPr wrap="square" lIns="0" tIns="0" rIns="0" bIns="0" rtlCol="0" anchor="t"/>
          <a:lstStyle/>
          <a:p>
            <a:pPr indent="0" marL="0">
              <a:buNone/>
            </a:pPr>
            <a:r>
              <a:rPr lang="en-US" sz="1300" dirty="0">
                <a:solidFill>
                  <a:schemeClr val="tx1"/>
                </a:solidFill>
              </a:rPr>
              <a:t>Poll interval + engine cycle + DB time must stay under 20 s → measured with the NF-01 test</a:t>
            </a:r>
            <a:endParaRPr lang="en-US" sz="1300" dirty="0"/>
          </a:p>
        </p:txBody>
      </p:sp>
      <p:sp>
        <p:nvSpPr>
          <p:cNvPr id="18" name="concern-3"/>
          <p:cNvSpPr/>
          <p:nvPr/>
        </p:nvSpPr>
        <p:spPr>
          <a:xfrm>
            <a:off x="6446520" y="3840480"/>
            <a:ext cx="5349240" cy="2011680"/>
          </a:xfrm>
          <a:prstGeom prst="rect">
            <a:avLst/>
          </a:prstGeom>
          <a:solidFill>
            <a:schemeClr val="bg2"/>
          </a:solidFill>
          <a:ln/>
        </p:spPr>
      </p:sp>
      <p:sp>
        <p:nvSpPr>
          <p:cNvPr id="19" name="concern-dot-3"/>
          <p:cNvSpPr/>
          <p:nvPr/>
        </p:nvSpPr>
        <p:spPr>
          <a:xfrm>
            <a:off x="6675120" y="4087368"/>
            <a:ext cx="411480" cy="411480"/>
          </a:xfrm>
          <a:prstGeom prst="ellipse">
            <a:avLst/>
          </a:prstGeom>
          <a:solidFill>
            <a:schemeClr val="accent2"/>
          </a:solidFill>
          <a:ln/>
        </p:spPr>
      </p:sp>
      <p:sp>
        <p:nvSpPr>
          <p:cNvPr id="20" name="Text 18"/>
          <p:cNvSpPr txBox="1"/>
          <p:nvPr/>
        </p:nvSpPr>
        <p:spPr>
          <a:xfrm>
            <a:off x="6675120" y="408736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1" name="Text 19"/>
          <p:cNvSpPr txBox="1"/>
          <p:nvPr/>
        </p:nvSpPr>
        <p:spPr>
          <a:xfrm>
            <a:off x="7269480" y="4041648"/>
            <a:ext cx="4297680" cy="502920"/>
          </a:xfrm>
          <a:prstGeom prst="rect">
            <a:avLst/>
          </a:prstGeom>
          <a:noFill/>
          <a:ln/>
        </p:spPr>
        <p:txBody>
          <a:bodyPr wrap="square" lIns="0" tIns="0" rIns="0" bIns="0" rtlCol="0" anchor="ctr"/>
          <a:lstStyle/>
          <a:p>
            <a:pPr indent="0" marL="0">
              <a:buNone/>
            </a:pPr>
            <a:r>
              <a:rPr lang="en-US" sz="1500" b="1" dirty="0">
                <a:solidFill>
                  <a:schemeClr val="tx1"/>
                </a:solidFill>
              </a:rPr>
              <a:t>Open points with Colbits</a:t>
            </a:r>
            <a:endParaRPr lang="en-US" sz="1500" dirty="0"/>
          </a:p>
        </p:txBody>
      </p:sp>
      <p:sp>
        <p:nvSpPr>
          <p:cNvPr id="22" name="Text 20"/>
          <p:cNvSpPr txBox="1"/>
          <p:nvPr/>
        </p:nvSpPr>
        <p:spPr>
          <a:xfrm>
            <a:off x="7269480" y="4663440"/>
            <a:ext cx="4297680" cy="1051560"/>
          </a:xfrm>
          <a:prstGeom prst="rect">
            <a:avLst/>
          </a:prstGeom>
          <a:noFill/>
          <a:ln/>
        </p:spPr>
        <p:txBody>
          <a:bodyPr wrap="square" lIns="0" tIns="0" rIns="0" bIns="0" rtlCol="0" anchor="t"/>
          <a:lstStyle/>
          <a:p>
            <a:pPr indent="0" marL="0">
              <a:buNone/>
            </a:pPr>
            <a:r>
              <a:rPr lang="en-US" sz="1300" dirty="0">
                <a:solidFill>
                  <a:schemeClr val="tx1"/>
                </a:solidFill>
              </a:rPr>
              <a:t>Amber vs. yellow and the legend states in the mockups; DB copy with anonymised coordinates</a:t>
            </a:r>
            <a:endParaRPr lang="en-US" sz="13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TECHNOLOGIES BY COMPONENT</a:t>
            </a:r>
            <a:endParaRPr lang="en-US" sz="3200" dirty="0"/>
          </a:p>
        </p:txBody>
      </p:sp>
      <p:sp>
        <p:nvSpPr>
          <p:cNvPr id="3" name="tech-col-0"/>
          <p:cNvSpPr/>
          <p:nvPr/>
        </p:nvSpPr>
        <p:spPr>
          <a:xfrm>
            <a:off x="914400" y="1600200"/>
            <a:ext cx="3566160" cy="4343400"/>
          </a:xfrm>
          <a:prstGeom prst="rect">
            <a:avLst/>
          </a:prstGeom>
          <a:solidFill>
            <a:schemeClr val="bg2"/>
          </a:solidFill>
          <a:ln/>
        </p:spPr>
      </p:sp>
      <p:sp>
        <p:nvSpPr>
          <p:cNvPr id="4" name="tech-head-0"/>
          <p:cNvSpPr/>
          <p:nvPr/>
        </p:nvSpPr>
        <p:spPr>
          <a:xfrm>
            <a:off x="914400" y="1600200"/>
            <a:ext cx="3566160" cy="411480"/>
          </a:xfrm>
          <a:prstGeom prst="rect">
            <a:avLst/>
          </a:prstGeom>
          <a:solidFill>
            <a:srgbClr val="156082"/>
          </a:solidFill>
          <a:ln/>
        </p:spPr>
      </p:sp>
      <p:sp>
        <p:nvSpPr>
          <p:cNvPr id="5" name="Text 3"/>
          <p:cNvSpPr txBox="1"/>
          <p:nvPr/>
        </p:nvSpPr>
        <p:spPr>
          <a:xfrm>
            <a:off x="914400" y="1600200"/>
            <a:ext cx="3566160" cy="411480"/>
          </a:xfrm>
          <a:prstGeom prst="rect">
            <a:avLst/>
          </a:prstGeom>
          <a:noFill/>
          <a:ln/>
        </p:spPr>
        <p:txBody>
          <a:bodyPr wrap="square" lIns="0" tIns="0" rIns="0" bIns="0" rtlCol="0" anchor="ctr"/>
          <a:lstStyle/>
          <a:p>
            <a:pPr algn="ctr" indent="0" marL="0">
              <a:buNone/>
            </a:pPr>
            <a:r>
              <a:rPr lang="en-US" sz="1300" b="1" dirty="0">
                <a:solidFill>
                  <a:srgbClr val="FFFFFF"/>
                </a:solidFill>
              </a:rPr>
              <a:t>Web frontend</a:t>
            </a:r>
            <a:endParaRPr lang="en-US" sz="1300" dirty="0"/>
          </a:p>
        </p:txBody>
      </p:sp>
      <p:sp>
        <p:nvSpPr>
          <p:cNvPr id="6" name="Text 4"/>
          <p:cNvSpPr txBox="1"/>
          <p:nvPr/>
        </p:nvSpPr>
        <p:spPr>
          <a:xfrm>
            <a:off x="1097280" y="2167128"/>
            <a:ext cx="3200400" cy="685800"/>
          </a:xfrm>
          <a:prstGeom prst="rect">
            <a:avLst/>
          </a:prstGeom>
          <a:noFill/>
          <a:ln/>
        </p:spPr>
        <p:txBody>
          <a:bodyPr wrap="square" lIns="0" tIns="0" rIns="0" bIns="0" rtlCol="0" anchor="t"/>
          <a:lstStyle/>
          <a:p>
            <a:pPr indent="0" marL="0">
              <a:buNone/>
            </a:pPr>
            <a:r>
              <a:rPr lang="en-US" sz="1100" b="1" dirty="0">
                <a:solidFill>
                  <a:srgbClr val="6B7280"/>
                </a:solidFill>
              </a:rPr>
              <a:t>Web frontend</a:t>
            </a:r>
            <a:endParaRPr lang="en-US" sz="1100" dirty="0"/>
          </a:p>
          <a:p>
            <a:pPr indent="0" marL="0">
              <a:buNone/>
            </a:pPr>
            <a:r>
              <a:rPr lang="en-US" sz="1300" dirty="0">
                <a:solidFill>
                  <a:srgbClr val="1A1A1A"/>
                </a:solidFill>
              </a:rPr>
              <a:t>React + TypeScript (Vite), Atomic Design</a:t>
            </a:r>
            <a:endParaRPr lang="en-US" sz="1100" dirty="0"/>
          </a:p>
        </p:txBody>
      </p:sp>
      <p:sp>
        <p:nvSpPr>
          <p:cNvPr id="7" name="Text 5"/>
          <p:cNvSpPr txBox="1"/>
          <p:nvPr/>
        </p:nvSpPr>
        <p:spPr>
          <a:xfrm>
            <a:off x="1097280" y="2907792"/>
            <a:ext cx="3200400" cy="685800"/>
          </a:xfrm>
          <a:prstGeom prst="rect">
            <a:avLst/>
          </a:prstGeom>
          <a:noFill/>
          <a:ln/>
        </p:spPr>
        <p:txBody>
          <a:bodyPr wrap="square" lIns="0" tIns="0" rIns="0" bIns="0" rtlCol="0" anchor="t"/>
          <a:lstStyle/>
          <a:p>
            <a:pPr indent="0" marL="0">
              <a:buNone/>
            </a:pPr>
            <a:r>
              <a:rPr lang="en-US" sz="1100" b="1" dirty="0">
                <a:solidFill>
                  <a:srgbClr val="6B7280"/>
                </a:solidFill>
              </a:rPr>
              <a:t>Map</a:t>
            </a:r>
            <a:endParaRPr lang="en-US" sz="1100" dirty="0"/>
          </a:p>
          <a:p>
            <a:pPr indent="0" marL="0">
              <a:buNone/>
            </a:pPr>
            <a:r>
              <a:rPr lang="en-US" sz="1300" dirty="0">
                <a:solidFill>
                  <a:srgbClr val="1A1A1A"/>
                </a:solidFill>
              </a:rPr>
              <a:t>Leaflet + react-leaflet + markercluster</a:t>
            </a:r>
            <a:endParaRPr lang="en-US" sz="1100" dirty="0"/>
          </a:p>
        </p:txBody>
      </p:sp>
      <p:sp>
        <p:nvSpPr>
          <p:cNvPr id="8" name="Text 6"/>
          <p:cNvSpPr txBox="1"/>
          <p:nvPr/>
        </p:nvSpPr>
        <p:spPr>
          <a:xfrm>
            <a:off x="1097280" y="3648456"/>
            <a:ext cx="3200400" cy="685800"/>
          </a:xfrm>
          <a:prstGeom prst="rect">
            <a:avLst/>
          </a:prstGeom>
          <a:noFill/>
          <a:ln/>
        </p:spPr>
        <p:txBody>
          <a:bodyPr wrap="square" lIns="0" tIns="0" rIns="0" bIns="0" rtlCol="0" anchor="t"/>
          <a:lstStyle/>
          <a:p>
            <a:pPr indent="0" marL="0">
              <a:buNone/>
            </a:pPr>
            <a:r>
              <a:rPr lang="en-US" sz="1100" b="1" dirty="0">
                <a:solidFill>
                  <a:srgbClr val="6B7280"/>
                </a:solidFill>
              </a:rPr>
              <a:t>Charts</a:t>
            </a:r>
            <a:endParaRPr lang="en-US" sz="1100" dirty="0"/>
          </a:p>
          <a:p>
            <a:pPr indent="0" marL="0">
              <a:buNone/>
            </a:pPr>
            <a:r>
              <a:rPr lang="en-US" sz="1300" dirty="0">
                <a:solidFill>
                  <a:srgbClr val="1A1A1A"/>
                </a:solidFill>
              </a:rPr>
              <a:t>Recharts</a:t>
            </a:r>
            <a:endParaRPr lang="en-US" sz="1100" dirty="0"/>
          </a:p>
        </p:txBody>
      </p:sp>
      <p:sp>
        <p:nvSpPr>
          <p:cNvPr id="9" name="Text 7"/>
          <p:cNvSpPr txBox="1"/>
          <p:nvPr/>
        </p:nvSpPr>
        <p:spPr>
          <a:xfrm>
            <a:off x="1097280" y="4389120"/>
            <a:ext cx="3200400" cy="685800"/>
          </a:xfrm>
          <a:prstGeom prst="rect">
            <a:avLst/>
          </a:prstGeom>
          <a:noFill/>
          <a:ln/>
        </p:spPr>
        <p:txBody>
          <a:bodyPr wrap="square" lIns="0" tIns="0" rIns="0" bIns="0" rtlCol="0" anchor="t"/>
          <a:lstStyle/>
          <a:p>
            <a:pPr indent="0" marL="0">
              <a:buNone/>
            </a:pPr>
            <a:r>
              <a:rPr lang="en-US" sz="1100" b="1" dirty="0">
                <a:solidFill>
                  <a:srgbClr val="6B7280"/>
                </a:solidFill>
              </a:rPr>
              <a:t>Live refresh</a:t>
            </a:r>
            <a:endParaRPr lang="en-US" sz="1100" dirty="0"/>
          </a:p>
          <a:p>
            <a:pPr indent="0" marL="0">
              <a:buNone/>
            </a:pPr>
            <a:r>
              <a:rPr lang="en-US" sz="1300" dirty="0">
                <a:solidFill>
                  <a:srgbClr val="1A1A1A"/>
                </a:solidFill>
              </a:rPr>
              <a:t>TanStack Query, 10 s polling</a:t>
            </a:r>
            <a:endParaRPr lang="en-US" sz="1100" dirty="0"/>
          </a:p>
        </p:txBody>
      </p:sp>
      <p:sp>
        <p:nvSpPr>
          <p:cNvPr id="10" name="tech-col-1"/>
          <p:cNvSpPr/>
          <p:nvPr/>
        </p:nvSpPr>
        <p:spPr>
          <a:xfrm>
            <a:off x="4572000" y="1600200"/>
            <a:ext cx="3566160" cy="4343400"/>
          </a:xfrm>
          <a:prstGeom prst="rect">
            <a:avLst/>
          </a:prstGeom>
          <a:solidFill>
            <a:schemeClr val="bg2"/>
          </a:solidFill>
          <a:ln/>
        </p:spPr>
      </p:sp>
      <p:sp>
        <p:nvSpPr>
          <p:cNvPr id="11" name="tech-head-1"/>
          <p:cNvSpPr/>
          <p:nvPr/>
        </p:nvSpPr>
        <p:spPr>
          <a:xfrm>
            <a:off x="4572000" y="1600200"/>
            <a:ext cx="3566160" cy="411480"/>
          </a:xfrm>
          <a:prstGeom prst="rect">
            <a:avLst/>
          </a:prstGeom>
          <a:solidFill>
            <a:srgbClr val="0E2841"/>
          </a:solidFill>
          <a:ln/>
        </p:spPr>
      </p:sp>
      <p:sp>
        <p:nvSpPr>
          <p:cNvPr id="12" name="Text 10"/>
          <p:cNvSpPr txBox="1"/>
          <p:nvPr/>
        </p:nvSpPr>
        <p:spPr>
          <a:xfrm>
            <a:off x="4572000" y="1600200"/>
            <a:ext cx="3566160" cy="411480"/>
          </a:xfrm>
          <a:prstGeom prst="rect">
            <a:avLst/>
          </a:prstGeom>
          <a:noFill/>
          <a:ln/>
        </p:spPr>
        <p:txBody>
          <a:bodyPr wrap="square" lIns="0" tIns="0" rIns="0" bIns="0" rtlCol="0" anchor="ctr"/>
          <a:lstStyle/>
          <a:p>
            <a:pPr algn="ctr" indent="0" marL="0">
              <a:buNone/>
            </a:pPr>
            <a:r>
              <a:rPr lang="en-US" sz="1300" b="1" dirty="0">
                <a:solidFill>
                  <a:srgbClr val="FFFFFF"/>
                </a:solidFill>
              </a:rPr>
              <a:t>Backend REST API</a:t>
            </a:r>
            <a:endParaRPr lang="en-US" sz="1300" dirty="0"/>
          </a:p>
        </p:txBody>
      </p:sp>
      <p:sp>
        <p:nvSpPr>
          <p:cNvPr id="13" name="Text 11"/>
          <p:cNvSpPr txBox="1"/>
          <p:nvPr/>
        </p:nvSpPr>
        <p:spPr>
          <a:xfrm>
            <a:off x="4754880" y="2167128"/>
            <a:ext cx="3200400" cy="685800"/>
          </a:xfrm>
          <a:prstGeom prst="rect">
            <a:avLst/>
          </a:prstGeom>
          <a:noFill/>
          <a:ln/>
        </p:spPr>
        <p:txBody>
          <a:bodyPr wrap="square" lIns="0" tIns="0" rIns="0" bIns="0" rtlCol="0" anchor="t"/>
          <a:lstStyle/>
          <a:p>
            <a:pPr indent="0" marL="0">
              <a:buNone/>
            </a:pPr>
            <a:r>
              <a:rPr lang="en-US" sz="1100" b="1" dirty="0">
                <a:solidFill>
                  <a:srgbClr val="6B7280"/>
                </a:solidFill>
              </a:rPr>
              <a:t>Feature components</a:t>
            </a:r>
            <a:endParaRPr lang="en-US" sz="1100" dirty="0"/>
          </a:p>
          <a:p>
            <a:pPr indent="0" marL="0">
              <a:buNone/>
            </a:pPr>
            <a:r>
              <a:rPr lang="en-US" sz="1300" dirty="0">
                <a:solidFill>
                  <a:srgbClr val="1A1A1A"/>
                </a:solidFill>
              </a:rPr>
              <a:t>Python 3.12 + FastAPI + Pydantic</a:t>
            </a:r>
            <a:endParaRPr lang="en-US" sz="1100" dirty="0"/>
          </a:p>
        </p:txBody>
      </p:sp>
      <p:sp>
        <p:nvSpPr>
          <p:cNvPr id="14" name="Text 12"/>
          <p:cNvSpPr txBox="1"/>
          <p:nvPr/>
        </p:nvSpPr>
        <p:spPr>
          <a:xfrm>
            <a:off x="4754880" y="2907792"/>
            <a:ext cx="3200400" cy="685800"/>
          </a:xfrm>
          <a:prstGeom prst="rect">
            <a:avLst/>
          </a:prstGeom>
          <a:noFill/>
          <a:ln/>
        </p:spPr>
        <p:txBody>
          <a:bodyPr wrap="square" lIns="0" tIns="0" rIns="0" bIns="0" rtlCol="0" anchor="t"/>
          <a:lstStyle/>
          <a:p>
            <a:pPr indent="0" marL="0">
              <a:buNone/>
            </a:pPr>
            <a:r>
              <a:rPr lang="en-US" sz="1100" b="1" dirty="0">
                <a:solidFill>
                  <a:srgbClr val="6B7280"/>
                </a:solidFill>
              </a:rPr>
              <a:t>Authentication</a:t>
            </a:r>
            <a:endParaRPr lang="en-US" sz="1100" dirty="0"/>
          </a:p>
          <a:p>
            <a:pPr indent="0" marL="0">
              <a:buNone/>
            </a:pPr>
            <a:r>
              <a:rPr lang="en-US" sz="1300" dirty="0">
                <a:solidFill>
                  <a:srgbClr val="1A1A1A"/>
                </a:solidFill>
              </a:rPr>
              <a:t>JWT + Argon2</a:t>
            </a:r>
            <a:endParaRPr lang="en-US" sz="1100" dirty="0"/>
          </a:p>
        </p:txBody>
      </p:sp>
      <p:sp>
        <p:nvSpPr>
          <p:cNvPr id="15" name="Text 13"/>
          <p:cNvSpPr txBox="1"/>
          <p:nvPr/>
        </p:nvSpPr>
        <p:spPr>
          <a:xfrm>
            <a:off x="4754880" y="3648456"/>
            <a:ext cx="3200400" cy="685800"/>
          </a:xfrm>
          <a:prstGeom prst="rect">
            <a:avLst/>
          </a:prstGeom>
          <a:noFill/>
          <a:ln/>
        </p:spPr>
        <p:txBody>
          <a:bodyPr wrap="square" lIns="0" tIns="0" rIns="0" bIns="0" rtlCol="0" anchor="t"/>
          <a:lstStyle/>
          <a:p>
            <a:pPr indent="0" marL="0">
              <a:buNone/>
            </a:pPr>
            <a:r>
              <a:rPr lang="en-US" sz="1100" b="1" dirty="0">
                <a:solidFill>
                  <a:srgbClr val="6B7280"/>
                </a:solidFill>
              </a:rPr>
              <a:t>Scope &amp; data access</a:t>
            </a:r>
            <a:endParaRPr lang="en-US" sz="1100" dirty="0"/>
          </a:p>
          <a:p>
            <a:pPr indent="0" marL="0">
              <a:buNone/>
            </a:pPr>
            <a:r>
              <a:rPr lang="en-US" sz="1300" dirty="0">
                <a:solidFill>
                  <a:srgbClr val="1A1A1A"/>
                </a:solidFill>
              </a:rPr>
              <a:t>SQLAlchemy 2 + psycopg, SELECT-only role</a:t>
            </a:r>
            <a:endParaRPr lang="en-US" sz="1100" dirty="0"/>
          </a:p>
        </p:txBody>
      </p:sp>
      <p:sp>
        <p:nvSpPr>
          <p:cNvPr id="16" name="Text 14"/>
          <p:cNvSpPr txBox="1"/>
          <p:nvPr/>
        </p:nvSpPr>
        <p:spPr>
          <a:xfrm>
            <a:off x="4754880" y="4389120"/>
            <a:ext cx="3200400" cy="685800"/>
          </a:xfrm>
          <a:prstGeom prst="rect">
            <a:avLst/>
          </a:prstGeom>
          <a:noFill/>
          <a:ln/>
        </p:spPr>
        <p:txBody>
          <a:bodyPr wrap="square" lIns="0" tIns="0" rIns="0" bIns="0" rtlCol="0" anchor="t"/>
          <a:lstStyle/>
          <a:p>
            <a:pPr indent="0" marL="0">
              <a:buNone/>
            </a:pPr>
            <a:r>
              <a:rPr lang="en-US" sz="1100" b="1" dirty="0">
                <a:solidFill>
                  <a:srgbClr val="6B7280"/>
                </a:solidFill>
              </a:rPr>
              <a:t>Faults &amp; alarms engine</a:t>
            </a:r>
            <a:endParaRPr lang="en-US" sz="1100" dirty="0"/>
          </a:p>
          <a:p>
            <a:pPr indent="0" marL="0">
              <a:buNone/>
            </a:pPr>
            <a:r>
              <a:rPr lang="en-US" sz="1300" dirty="0">
                <a:solidFill>
                  <a:srgbClr val="1A1A1A"/>
                </a:solidFill>
              </a:rPr>
              <a:t>APScheduler background job</a:t>
            </a:r>
            <a:endParaRPr lang="en-US" sz="1100" dirty="0"/>
          </a:p>
        </p:txBody>
      </p:sp>
      <p:sp>
        <p:nvSpPr>
          <p:cNvPr id="17" name="Text 15"/>
          <p:cNvSpPr txBox="1"/>
          <p:nvPr/>
        </p:nvSpPr>
        <p:spPr>
          <a:xfrm>
            <a:off x="4754880" y="5129784"/>
            <a:ext cx="3200400" cy="685800"/>
          </a:xfrm>
          <a:prstGeom prst="rect">
            <a:avLst/>
          </a:prstGeom>
          <a:noFill/>
          <a:ln/>
        </p:spPr>
        <p:txBody>
          <a:bodyPr wrap="square" lIns="0" tIns="0" rIns="0" bIns="0" rtlCol="0" anchor="t"/>
          <a:lstStyle/>
          <a:p>
            <a:pPr indent="0" marL="0">
              <a:buNone/>
            </a:pPr>
            <a:r>
              <a:rPr lang="en-US" sz="1100" b="1" dirty="0">
                <a:solidFill>
                  <a:srgbClr val="6B7280"/>
                </a:solidFill>
              </a:rPr>
              <a:t>Export &amp; reports</a:t>
            </a:r>
            <a:endParaRPr lang="en-US" sz="1100" dirty="0"/>
          </a:p>
          <a:p>
            <a:pPr indent="0" marL="0">
              <a:buNone/>
            </a:pPr>
            <a:r>
              <a:rPr lang="en-US" sz="1300" dirty="0">
                <a:solidFill>
                  <a:srgbClr val="1A1A1A"/>
                </a:solidFill>
              </a:rPr>
              <a:t>openpyxl · csv · WeasyPrint</a:t>
            </a:r>
            <a:endParaRPr lang="en-US" sz="1100" dirty="0"/>
          </a:p>
        </p:txBody>
      </p:sp>
      <p:sp>
        <p:nvSpPr>
          <p:cNvPr id="18" name="tech-col-2"/>
          <p:cNvSpPr/>
          <p:nvPr/>
        </p:nvSpPr>
        <p:spPr>
          <a:xfrm>
            <a:off x="8229600" y="1600200"/>
            <a:ext cx="3566160" cy="4343400"/>
          </a:xfrm>
          <a:prstGeom prst="rect">
            <a:avLst/>
          </a:prstGeom>
          <a:solidFill>
            <a:schemeClr val="bg2"/>
          </a:solidFill>
          <a:ln/>
        </p:spPr>
      </p:sp>
      <p:sp>
        <p:nvSpPr>
          <p:cNvPr id="19" name="tech-head-2"/>
          <p:cNvSpPr/>
          <p:nvPr/>
        </p:nvSpPr>
        <p:spPr>
          <a:xfrm>
            <a:off x="8229600" y="1600200"/>
            <a:ext cx="3566160" cy="411480"/>
          </a:xfrm>
          <a:prstGeom prst="rect">
            <a:avLst/>
          </a:prstGeom>
          <a:solidFill>
            <a:srgbClr val="4B5563"/>
          </a:solidFill>
          <a:ln/>
        </p:spPr>
      </p:sp>
      <p:sp>
        <p:nvSpPr>
          <p:cNvPr id="20" name="Text 18"/>
          <p:cNvSpPr txBox="1"/>
          <p:nvPr/>
        </p:nvSpPr>
        <p:spPr>
          <a:xfrm>
            <a:off x="8229600" y="1600200"/>
            <a:ext cx="3566160" cy="411480"/>
          </a:xfrm>
          <a:prstGeom prst="rect">
            <a:avLst/>
          </a:prstGeom>
          <a:noFill/>
          <a:ln/>
        </p:spPr>
        <p:txBody>
          <a:bodyPr wrap="square" lIns="0" tIns="0" rIns="0" bIns="0" rtlCol="0" anchor="ctr"/>
          <a:lstStyle/>
          <a:p>
            <a:pPr algn="ctr" indent="0" marL="0">
              <a:buNone/>
            </a:pPr>
            <a:r>
              <a:rPr lang="en-US" sz="1300" b="1" dirty="0">
                <a:solidFill>
                  <a:srgbClr val="FFFFFF"/>
                </a:solidFill>
              </a:rPr>
              <a:t>Data, tooling &amp; quality</a:t>
            </a:r>
            <a:endParaRPr lang="en-US" sz="1300" dirty="0"/>
          </a:p>
        </p:txBody>
      </p:sp>
      <p:sp>
        <p:nvSpPr>
          <p:cNvPr id="21" name="Text 19"/>
          <p:cNvSpPr txBox="1"/>
          <p:nvPr/>
        </p:nvSpPr>
        <p:spPr>
          <a:xfrm>
            <a:off x="8412480" y="2167128"/>
            <a:ext cx="3200400" cy="685800"/>
          </a:xfrm>
          <a:prstGeom prst="rect">
            <a:avLst/>
          </a:prstGeom>
          <a:noFill/>
          <a:ln/>
        </p:spPr>
        <p:txBody>
          <a:bodyPr wrap="square" lIns="0" tIns="0" rIns="0" bIns="0" rtlCol="0" anchor="t"/>
          <a:lstStyle/>
          <a:p>
            <a:pPr indent="0" marL="0">
              <a:buNone/>
            </a:pPr>
            <a:r>
              <a:rPr lang="en-US" sz="1100" b="1" dirty="0">
                <a:solidFill>
                  <a:srgbClr val="6B7280"/>
                </a:solidFill>
              </a:rPr>
              <a:t>Colbits data · dev / test DB</a:t>
            </a:r>
            <a:endParaRPr lang="en-US" sz="1100" dirty="0"/>
          </a:p>
          <a:p>
            <a:pPr indent="0" marL="0">
              <a:buNone/>
            </a:pPr>
            <a:r>
              <a:rPr lang="en-US" sz="1300" dirty="0">
                <a:solidFill>
                  <a:srgbClr val="1A1A1A"/>
                </a:solidFill>
              </a:rPr>
              <a:t>PostgreSQL + TimescaleDB</a:t>
            </a:r>
            <a:endParaRPr lang="en-US" sz="1100" dirty="0"/>
          </a:p>
        </p:txBody>
      </p:sp>
      <p:sp>
        <p:nvSpPr>
          <p:cNvPr id="22" name="Text 20"/>
          <p:cNvSpPr txBox="1"/>
          <p:nvPr/>
        </p:nvSpPr>
        <p:spPr>
          <a:xfrm>
            <a:off x="8412480" y="2907792"/>
            <a:ext cx="3200400" cy="685800"/>
          </a:xfrm>
          <a:prstGeom prst="rect">
            <a:avLst/>
          </a:prstGeom>
          <a:noFill/>
          <a:ln/>
        </p:spPr>
        <p:txBody>
          <a:bodyPr wrap="square" lIns="0" tIns="0" rIns="0" bIns="0" rtlCol="0" anchor="t"/>
          <a:lstStyle/>
          <a:p>
            <a:pPr indent="0" marL="0">
              <a:buNone/>
            </a:pPr>
            <a:r>
              <a:rPr lang="en-US" sz="1100" b="1" dirty="0">
                <a:solidFill>
                  <a:srgbClr val="6B7280"/>
                </a:solidFill>
              </a:rPr>
              <a:t>Platform-managed data</a:t>
            </a:r>
            <a:endParaRPr lang="en-US" sz="1100" dirty="0"/>
          </a:p>
          <a:p>
            <a:pPr indent="0" marL="0">
              <a:buNone/>
            </a:pPr>
            <a:r>
              <a:rPr lang="en-US" sz="1300" dirty="0">
                <a:solidFill>
                  <a:srgbClr val="1A1A1A"/>
                </a:solidFill>
              </a:rPr>
              <a:t>PostgreSQL schema + Alembic</a:t>
            </a:r>
            <a:endParaRPr lang="en-US" sz="1100" dirty="0"/>
          </a:p>
        </p:txBody>
      </p:sp>
      <p:sp>
        <p:nvSpPr>
          <p:cNvPr id="23" name="Text 21"/>
          <p:cNvSpPr txBox="1"/>
          <p:nvPr/>
        </p:nvSpPr>
        <p:spPr>
          <a:xfrm>
            <a:off x="8412480" y="3648456"/>
            <a:ext cx="3200400" cy="685800"/>
          </a:xfrm>
          <a:prstGeom prst="rect">
            <a:avLst/>
          </a:prstGeom>
          <a:noFill/>
          <a:ln/>
        </p:spPr>
        <p:txBody>
          <a:bodyPr wrap="square" lIns="0" tIns="0" rIns="0" bIns="0" rtlCol="0" anchor="t"/>
          <a:lstStyle/>
          <a:p>
            <a:pPr indent="0" marL="0">
              <a:buNone/>
            </a:pPr>
            <a:r>
              <a:rPr lang="en-US" sz="1100" b="1" dirty="0">
                <a:solidFill>
                  <a:srgbClr val="6B7280"/>
                </a:solidFill>
              </a:rPr>
              <a:t>Synthetic data generator</a:t>
            </a:r>
            <a:endParaRPr lang="en-US" sz="1100" dirty="0"/>
          </a:p>
          <a:p>
            <a:pPr indent="0" marL="0">
              <a:buNone/>
            </a:pPr>
            <a:r>
              <a:rPr lang="en-US" sz="1300" dirty="0">
                <a:solidFill>
                  <a:srgbClr val="1A1A1A"/>
                </a:solidFill>
              </a:rPr>
              <a:t>Python CLI (Typer + seeded NumPy)</a:t>
            </a:r>
            <a:endParaRPr lang="en-US" sz="1100" dirty="0"/>
          </a:p>
        </p:txBody>
      </p:sp>
      <p:sp>
        <p:nvSpPr>
          <p:cNvPr id="24" name="Text 22"/>
          <p:cNvSpPr txBox="1"/>
          <p:nvPr/>
        </p:nvSpPr>
        <p:spPr>
          <a:xfrm>
            <a:off x="8412480" y="4389120"/>
            <a:ext cx="3200400" cy="685800"/>
          </a:xfrm>
          <a:prstGeom prst="rect">
            <a:avLst/>
          </a:prstGeom>
          <a:noFill/>
          <a:ln/>
        </p:spPr>
        <p:txBody>
          <a:bodyPr wrap="square" lIns="0" tIns="0" rIns="0" bIns="0" rtlCol="0" anchor="t"/>
          <a:lstStyle/>
          <a:p>
            <a:pPr indent="0" marL="0">
              <a:buNone/>
            </a:pPr>
            <a:r>
              <a:rPr lang="en-US" sz="1100" b="1" dirty="0">
                <a:solidFill>
                  <a:srgbClr val="6B7280"/>
                </a:solidFill>
              </a:rPr>
              <a:t>Tests &amp; CI</a:t>
            </a:r>
            <a:endParaRPr lang="en-US" sz="1100" dirty="0"/>
          </a:p>
          <a:p>
            <a:pPr indent="0" marL="0">
              <a:buNone/>
            </a:pPr>
            <a:r>
              <a:rPr lang="en-US" sz="1300" dirty="0">
                <a:solidFill>
                  <a:srgbClr val="1A1A1A"/>
                </a:solidFill>
              </a:rPr>
              <a:t>pytest + coverage · Playwright · GitHub Actions</a:t>
            </a:r>
            <a:endParaRPr lang="en-US" sz="1100" dirty="0"/>
          </a:p>
        </p:txBody>
      </p:sp>
      <p:sp>
        <p:nvSpPr>
          <p:cNvPr id="25" name="Text 23"/>
          <p:cNvSpPr txBox="1"/>
          <p:nvPr/>
        </p:nvSpPr>
        <p:spPr>
          <a:xfrm>
            <a:off x="8412480" y="5129784"/>
            <a:ext cx="3200400" cy="685800"/>
          </a:xfrm>
          <a:prstGeom prst="rect">
            <a:avLst/>
          </a:prstGeom>
          <a:noFill/>
          <a:ln/>
        </p:spPr>
        <p:txBody>
          <a:bodyPr wrap="square" lIns="0" tIns="0" rIns="0" bIns="0" rtlCol="0" anchor="t"/>
          <a:lstStyle/>
          <a:p>
            <a:pPr indent="0" marL="0">
              <a:buNone/>
            </a:pPr>
            <a:r>
              <a:rPr lang="en-US" sz="1100" b="1" dirty="0">
                <a:solidFill>
                  <a:srgbClr val="6B7280"/>
                </a:solidFill>
              </a:rPr>
              <a:t>Packaging</a:t>
            </a:r>
            <a:endParaRPr lang="en-US" sz="1100" dirty="0"/>
          </a:p>
          <a:p>
            <a:pPr indent="0" marL="0">
              <a:buNone/>
            </a:pPr>
            <a:r>
              <a:rPr lang="en-US" sz="1300" dirty="0">
                <a:solidFill>
                  <a:srgbClr val="1A1A1A"/>
                </a:solidFill>
              </a:rPr>
              <a:t>Docker + Docker Compose</a:t>
            </a:r>
            <a:endParaRPr lang="en-US" sz="11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OLBITS SUCCESS">
  <a:themeElements>
    <a:clrScheme name="COLBITS SUCCESS">
      <a:dk1>
        <a:srgbClr val="1A1A1A"/>
      </a:dk1>
      <a:lt1>
        <a:srgbClr val="FFFFFF"/>
      </a:lt1>
      <a:dk2>
        <a:srgbClr val="0E2841"/>
      </a:dk2>
      <a:lt2>
        <a:srgbClr val="E8E8E8"/>
      </a:lt2>
      <a:accent1>
        <a:srgbClr val="156082"/>
      </a:accent1>
      <a:accent2>
        <a:srgbClr val="E3A500"/>
      </a:accent2>
      <a:accent3>
        <a:srgbClr val="0E2841"/>
      </a:accent3>
      <a:accent4>
        <a:srgbClr val="C0392B"/>
      </a:accent4>
      <a:accent5>
        <a:srgbClr val="6B7280"/>
      </a:accent5>
      <a:accent6>
        <a:srgbClr val="1F8A5B"/>
      </a:accent6>
      <a:hlink>
        <a:srgbClr val="156082"/>
      </a:hlink>
      <a:folHlink>
        <a:srgbClr val="6B7280"/>
      </a:folHlink>
    </a:clrScheme>
    <a:fontScheme name="COLBITS SUCCESS">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COLBITS - Requirements and Design - Part 2</dc:title>
  <dc:subject>PptxGenJS Presentation</dc:subject>
  <dc:creator>COLBITS team</dc:creator>
  <cp:lastModifiedBy>COLBITS team</cp:lastModifiedBy>
  <cp:revision>1</cp:revision>
  <dcterms:created xsi:type="dcterms:W3CDTF">2026-10-07T14:47:06Z</dcterms:created>
  <dcterms:modified xsi:type="dcterms:W3CDTF">2026-10-07T14:47:06Z</dcterms:modified>
</cp:coreProperties>
</file>